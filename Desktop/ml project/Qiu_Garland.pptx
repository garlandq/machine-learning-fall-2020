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33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9D55F-44C1-4983-9FF7-1AAF6D5949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115085-D638-4383-BBFA-2615F08004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0FFC5F-0CF5-4D69-AFE6-FF95EBC0999B}"/>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5" name="Footer Placeholder 4">
            <a:extLst>
              <a:ext uri="{FF2B5EF4-FFF2-40B4-BE49-F238E27FC236}">
                <a16:creationId xmlns:a16="http://schemas.microsoft.com/office/drawing/2014/main" id="{4251282F-FBA1-4171-BC69-724F310E73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C8717E9-FDFC-4DC7-A21E-D1D1803BBB13}"/>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1854565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CBCC3-55D9-477B-AC46-5A867B0BB0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904239-6292-4DC3-9109-44F282E8C7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2D5D38-9064-4CF7-ACA3-EF184C8A49B6}"/>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5" name="Footer Placeholder 4">
            <a:extLst>
              <a:ext uri="{FF2B5EF4-FFF2-40B4-BE49-F238E27FC236}">
                <a16:creationId xmlns:a16="http://schemas.microsoft.com/office/drawing/2014/main" id="{F1A8BD3F-B520-42EE-A4F1-365E1C59E8D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EE2C77-A928-4FAE-B3CD-A21400FDE6CB}"/>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382358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AA62D-9EAC-42FA-ADB3-F350C9B3E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AFF8CE-3974-4446-8C59-2849E18320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5B3DF-9E96-4536-9820-FE8FB8896A6A}"/>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5" name="Footer Placeholder 4">
            <a:extLst>
              <a:ext uri="{FF2B5EF4-FFF2-40B4-BE49-F238E27FC236}">
                <a16:creationId xmlns:a16="http://schemas.microsoft.com/office/drawing/2014/main" id="{20AE7912-835D-4C5D-85EC-9349D84807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40E9763-3B98-4911-96F2-B72E8C6DF4B7}"/>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2135854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E8F7-5741-4842-92AE-CA6B56FDB6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DDF6EE-C08A-48AD-8ED4-D8701D89C9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CE1AAE-8F92-4696-B0F6-BD39B1DC17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99B2CC-1B16-424D-833E-513E36BD5488}"/>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6" name="Footer Placeholder 5">
            <a:extLst>
              <a:ext uri="{FF2B5EF4-FFF2-40B4-BE49-F238E27FC236}">
                <a16:creationId xmlns:a16="http://schemas.microsoft.com/office/drawing/2014/main" id="{6A111C48-7A75-43B3-983A-54CB08EA67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7170EC-CD82-4444-A518-846EAD1B102B}"/>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1331932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2BDB-BB9A-423E-A343-7FF332E657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BCD451-E4BF-4540-8A5F-87CAAEAF5D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BB9FB9-6073-4005-A835-69187FC5DB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A7BA02-6398-4F94-93CD-136CDD9D19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D194A3-9B09-44AB-8D09-6CB7386B34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C1A6D9-400A-4572-B1E7-3EA3F15577E7}"/>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8" name="Footer Placeholder 7">
            <a:extLst>
              <a:ext uri="{FF2B5EF4-FFF2-40B4-BE49-F238E27FC236}">
                <a16:creationId xmlns:a16="http://schemas.microsoft.com/office/drawing/2014/main" id="{0FEC13D4-D164-4906-8210-EBFDDB44C94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FE84136-BE4D-455A-8046-80B151C398D9}"/>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1781729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66F6F-DDBD-4C91-ABD9-4F613F0654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817E93-78BB-4C1A-BC0F-A6ECF91B86B8}"/>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4" name="Footer Placeholder 3">
            <a:extLst>
              <a:ext uri="{FF2B5EF4-FFF2-40B4-BE49-F238E27FC236}">
                <a16:creationId xmlns:a16="http://schemas.microsoft.com/office/drawing/2014/main" id="{7868F3B5-2F70-4881-ADBB-168A73E564B0}"/>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3E7AA02-F411-4093-B582-E7E150EA1BFA}"/>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115067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5F333D-E909-489E-BAF4-D240DAB00F55}"/>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3" name="Footer Placeholder 2">
            <a:extLst>
              <a:ext uri="{FF2B5EF4-FFF2-40B4-BE49-F238E27FC236}">
                <a16:creationId xmlns:a16="http://schemas.microsoft.com/office/drawing/2014/main" id="{8F3F82A8-4BE0-49B2-9A2F-0B7E7E6A68A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D196B05-0E37-4801-B61A-6EDB18BFF4B5}"/>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2106417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A93F2-43AD-49BE-AC91-A44808D05F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A0E810-3373-44AB-8A11-7F14E7DD6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70E692-B2B4-475A-B151-79A0C8554C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BEC4B5-05AE-4E8A-9F14-71E036E51D31}"/>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6" name="Footer Placeholder 5">
            <a:extLst>
              <a:ext uri="{FF2B5EF4-FFF2-40B4-BE49-F238E27FC236}">
                <a16:creationId xmlns:a16="http://schemas.microsoft.com/office/drawing/2014/main" id="{6EB81E40-231F-4192-8947-5C71C47F1D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061F29-4BC0-4633-B170-C4EF5736DFD0}"/>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31006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3E1DE-4F70-4369-828B-27759A6F4D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0B793A-F6C8-4DFF-8EEF-F82C2DF110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7C86EAC-0902-4B41-BDAD-31E938544F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16F042-8DD4-4751-B9BC-7A207C2CC778}"/>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6" name="Footer Placeholder 5">
            <a:extLst>
              <a:ext uri="{FF2B5EF4-FFF2-40B4-BE49-F238E27FC236}">
                <a16:creationId xmlns:a16="http://schemas.microsoft.com/office/drawing/2014/main" id="{EC872946-AF43-4843-B923-00DB7C3CD62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6ED3C8A-2F8B-4518-AC97-68DA49C29AFB}"/>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2704607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C5A56-8F22-4E25-B1A5-771890FF85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A7088E-842A-4ADE-9A4B-37B47DD5D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F54CC-EDCD-4C75-9A4B-07DD288E3D88}"/>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5" name="Footer Placeholder 4">
            <a:extLst>
              <a:ext uri="{FF2B5EF4-FFF2-40B4-BE49-F238E27FC236}">
                <a16:creationId xmlns:a16="http://schemas.microsoft.com/office/drawing/2014/main" id="{759829F9-C761-41AC-B314-7B380F1534E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3ABEA27-C57A-4DB2-B754-20A819CFD2B7}"/>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2352095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B782EA-3677-4377-9C7E-9CEDAF2046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A9DEF2-9C46-401C-8C04-C1EC448D1C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B4EDD-22E3-4780-9DBE-C891DF2BC9C0}"/>
              </a:ext>
            </a:extLst>
          </p:cNvPr>
          <p:cNvSpPr>
            <a:spLocks noGrp="1"/>
          </p:cNvSpPr>
          <p:nvPr>
            <p:ph type="dt" sz="half" idx="10"/>
          </p:nvPr>
        </p:nvSpPr>
        <p:spPr/>
        <p:txBody>
          <a:bodyPr/>
          <a:lstStyle/>
          <a:p>
            <a:fld id="{DE94114A-7EEF-46B1-9EBA-714F0BA0EB03}" type="datetimeFigureOut">
              <a:rPr lang="en-US" smtClean="0"/>
              <a:t>12/5/2020</a:t>
            </a:fld>
            <a:endParaRPr lang="en-US" dirty="0"/>
          </a:p>
        </p:txBody>
      </p:sp>
      <p:sp>
        <p:nvSpPr>
          <p:cNvPr id="5" name="Footer Placeholder 4">
            <a:extLst>
              <a:ext uri="{FF2B5EF4-FFF2-40B4-BE49-F238E27FC236}">
                <a16:creationId xmlns:a16="http://schemas.microsoft.com/office/drawing/2014/main" id="{2CB074C1-F07E-4EC7-BCF2-C6CE333E61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B603DC-2D89-4C6D-87F0-A26D44B8AAEC}"/>
              </a:ext>
            </a:extLst>
          </p:cNvPr>
          <p:cNvSpPr>
            <a:spLocks noGrp="1"/>
          </p:cNvSpPr>
          <p:nvPr>
            <p:ph type="sldNum" sz="quarter" idx="12"/>
          </p:nvPr>
        </p:nvSpPr>
        <p:spPr/>
        <p:txBody>
          <a:bodyPr/>
          <a:lstStyle/>
          <a:p>
            <a:fld id="{1100D3CF-8C4B-484C-B987-46B0B6285487}" type="slidenum">
              <a:rPr lang="en-US" smtClean="0"/>
              <a:t>‹#›</a:t>
            </a:fld>
            <a:endParaRPr lang="en-US" dirty="0"/>
          </a:p>
        </p:txBody>
      </p:sp>
    </p:spTree>
    <p:extLst>
      <p:ext uri="{BB962C8B-B14F-4D97-AF65-F5344CB8AC3E}">
        <p14:creationId xmlns:p14="http://schemas.microsoft.com/office/powerpoint/2010/main" val="418930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FE67F3-6C0E-4013-A060-90AEC80A4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E8D001-90AB-4355-A14E-2FBEB22EB6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AA832F-0694-485E-84F4-C393DFAA85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94114A-7EEF-46B1-9EBA-714F0BA0EB03}" type="datetimeFigureOut">
              <a:rPr lang="en-US" smtClean="0"/>
              <a:t>12/5/2020</a:t>
            </a:fld>
            <a:endParaRPr lang="en-US" dirty="0"/>
          </a:p>
        </p:txBody>
      </p:sp>
      <p:sp>
        <p:nvSpPr>
          <p:cNvPr id="5" name="Footer Placeholder 4">
            <a:extLst>
              <a:ext uri="{FF2B5EF4-FFF2-40B4-BE49-F238E27FC236}">
                <a16:creationId xmlns:a16="http://schemas.microsoft.com/office/drawing/2014/main" id="{606FE07A-8F33-4B3D-A893-BB81C93E2A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909672-BC32-4551-A481-A0E4C14827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00D3CF-8C4B-484C-B987-46B0B6285487}" type="slidenum">
              <a:rPr lang="en-US" smtClean="0"/>
              <a:t>‹#›</a:t>
            </a:fld>
            <a:endParaRPr lang="en-US" dirty="0"/>
          </a:p>
        </p:txBody>
      </p:sp>
    </p:spTree>
    <p:extLst>
      <p:ext uri="{BB962C8B-B14F-4D97-AF65-F5344CB8AC3E}">
        <p14:creationId xmlns:p14="http://schemas.microsoft.com/office/powerpoint/2010/main" val="2233074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tmdb/tmdb-movie-metadata?select=tmdb_5000_credits.csv" TargetMode="External"/><Relationship Id="rId2" Type="http://schemas.openxmlformats.org/officeDocument/2006/relationships/hyperlink" Target="https://www.kaggle.com/tmdb/tmdb-movie-metadata?select=tmdb_5000_movies.csv"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ww.kaggle.com/ibtesama/getting-started-with-a-movie-recommendation-system#Collaborative-Filtering" TargetMode="External"/><Relationship Id="rId13" Type="http://schemas.openxmlformats.org/officeDocument/2006/relationships/hyperlink" Target="https://scikit-learn.org/stable/modules/generated/sklearn.feature_extraction.text.TfidfVectorizer.html" TargetMode="External"/><Relationship Id="rId3" Type="http://schemas.openxmlformats.org/officeDocument/2006/relationships/hyperlink" Target="https://towardsdatascience.com/importance-of-distance-metrics-in-machine-learning-modelling-e51395ffe60d" TargetMode="External"/><Relationship Id="rId7" Type="http://schemas.openxmlformats.org/officeDocument/2006/relationships/hyperlink" Target="https://www.machinelearningplus.com/nlp/cosine-similarity/" TargetMode="External"/><Relationship Id="rId12" Type="http://schemas.openxmlformats.org/officeDocument/2006/relationships/hyperlink" Target="https://kavita-ganesan.com/tfidftransformer-tfidfvectorizer-usage-differences/" TargetMode="External"/><Relationship Id="rId2" Type="http://schemas.openxmlformats.org/officeDocument/2006/relationships/hyperlink" Target="https://medium.com/analytics-vidhya/distances-in-machine-learning-ec8c6cebbc7f" TargetMode="External"/><Relationship Id="rId16" Type="http://schemas.openxmlformats.org/officeDocument/2006/relationships/hyperlink" Target="https://towardsdatascience.com/machine-learning-basics-with-the-k-nearest-neighbors-algorithm-6a6e71d01761" TargetMode="External"/><Relationship Id="rId1" Type="http://schemas.openxmlformats.org/officeDocument/2006/relationships/slideLayout" Target="../slideLayouts/slideLayout2.xml"/><Relationship Id="rId6" Type="http://schemas.openxmlformats.org/officeDocument/2006/relationships/hyperlink" Target="https://scikit-learn.org/stable/modules/generated/sklearn.metrics.pairwise.cosine_similarity.html" TargetMode="External"/><Relationship Id="rId11" Type="http://schemas.openxmlformats.org/officeDocument/2006/relationships/hyperlink" Target="https://towardsdatascience.com/how-did-we-build-book-recommender-systems-in-an-hour-part-2-k-nearest-neighbors-and-matrix-c04b3c2ef55c" TargetMode="External"/><Relationship Id="rId5" Type="http://schemas.openxmlformats.org/officeDocument/2006/relationships/hyperlink" Target="https://scikit-learn.org/stable/modules/metrics.html#cosine-similarity" TargetMode="External"/><Relationship Id="rId15" Type="http://schemas.openxmlformats.org/officeDocument/2006/relationships/hyperlink" Target="https://heartbeat.fritz.ai/recommender-systems-with-python-part-ii-collaborative-filtering-k-nearest-neighbors-algorithm-c8dcd5fd89b2#:~:text=When%20a%20KNN%20makes%20a,the%20most%20similar%20movie%20recommendations" TargetMode="External"/><Relationship Id="rId10" Type="http://schemas.openxmlformats.org/officeDocument/2006/relationships/hyperlink" Target="https://towardsdatascience.com/prototyping-a-recommender-system-step-by-step-part-1-knn-item-based-collaborative-filtering-637969614ea" TargetMode="External"/><Relationship Id="rId4" Type="http://schemas.openxmlformats.org/officeDocument/2006/relationships/hyperlink" Target="https://towardsdatascience.com/cosine-similarity-how-does-it-measure-the-similarity-maths-behind-and-usage-in-python-50ad30aad7db" TargetMode="External"/><Relationship Id="rId9" Type="http://schemas.openxmlformats.org/officeDocument/2006/relationships/hyperlink" Target="https://towardsdatascience.com/recommender-systems-in-practice-cef9033bb23a" TargetMode="External"/><Relationship Id="rId14" Type="http://schemas.openxmlformats.org/officeDocument/2006/relationships/hyperlink" Target="https://towardsdatascience.com/beginners-recommendation-systems-with-python-ee1b08d2efb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3" name="Subtitle 2">
            <a:extLst>
              <a:ext uri="{FF2B5EF4-FFF2-40B4-BE49-F238E27FC236}">
                <a16:creationId xmlns:a16="http://schemas.microsoft.com/office/drawing/2014/main" id="{6199ED36-6C8D-42C2-845A-83C0BC03D7AD}"/>
              </a:ext>
            </a:extLst>
          </p:cNvPr>
          <p:cNvSpPr>
            <a:spLocks noGrp="1"/>
          </p:cNvSpPr>
          <p:nvPr>
            <p:ph type="subTitle" idx="1"/>
          </p:nvPr>
        </p:nvSpPr>
        <p:spPr>
          <a:xfrm>
            <a:off x="4439633" y="4518923"/>
            <a:ext cx="3312734" cy="1141851"/>
          </a:xfrm>
          <a:noFill/>
        </p:spPr>
        <p:txBody>
          <a:bodyPr>
            <a:normAutofit lnSpcReduction="10000"/>
          </a:bodyPr>
          <a:lstStyle/>
          <a:p>
            <a:r>
              <a:rPr lang="en-US" sz="2000" dirty="0">
                <a:solidFill>
                  <a:srgbClr val="080808"/>
                </a:solidFill>
              </a:rPr>
              <a:t>Garland Qiu</a:t>
            </a:r>
          </a:p>
          <a:p>
            <a:r>
              <a:rPr lang="en-US" sz="2000" dirty="0">
                <a:solidFill>
                  <a:srgbClr val="080808"/>
                </a:solidFill>
              </a:rPr>
              <a:t>CSC 44700P</a:t>
            </a:r>
          </a:p>
          <a:p>
            <a:r>
              <a:rPr lang="en-US" sz="2000" dirty="0">
                <a:solidFill>
                  <a:srgbClr val="080808"/>
                </a:solidFill>
              </a:rPr>
              <a:t>Professor Grimmelmann</a:t>
            </a:r>
          </a:p>
        </p:txBody>
      </p:sp>
      <p:sp>
        <p:nvSpPr>
          <p:cNvPr id="2" name="Title 1">
            <a:extLst>
              <a:ext uri="{FF2B5EF4-FFF2-40B4-BE49-F238E27FC236}">
                <a16:creationId xmlns:a16="http://schemas.microsoft.com/office/drawing/2014/main" id="{34575804-CDBC-44BA-B0CB-637C6CF3DC75}"/>
              </a:ext>
            </a:extLst>
          </p:cNvPr>
          <p:cNvSpPr>
            <a:spLocks noGrp="1"/>
          </p:cNvSpPr>
          <p:nvPr>
            <p:ph type="ctrTitle"/>
          </p:nvPr>
        </p:nvSpPr>
        <p:spPr>
          <a:xfrm>
            <a:off x="3204642" y="2353641"/>
            <a:ext cx="5782716" cy="2150719"/>
          </a:xfrm>
          <a:noFill/>
        </p:spPr>
        <p:txBody>
          <a:bodyPr anchor="ctr">
            <a:normAutofit/>
          </a:bodyPr>
          <a:lstStyle/>
          <a:p>
            <a:r>
              <a:rPr lang="en-US" sz="3600" b="1" dirty="0">
                <a:solidFill>
                  <a:srgbClr val="080808"/>
                </a:solidFill>
              </a:rPr>
              <a:t>Movie Recommendation System Using Linear Kernel and KNN</a:t>
            </a: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81059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A02CB-F2BE-4D49-845E-6BB91B64E6AD}"/>
              </a:ext>
            </a:extLst>
          </p:cNvPr>
          <p:cNvSpPr>
            <a:spLocks noGrp="1"/>
          </p:cNvSpPr>
          <p:nvPr>
            <p:ph type="title"/>
          </p:nvPr>
        </p:nvSpPr>
        <p:spPr/>
        <p:txBody>
          <a:bodyPr/>
          <a:lstStyle/>
          <a:p>
            <a:r>
              <a:rPr lang="en-US" b="1" dirty="0"/>
              <a:t>Dataset Used</a:t>
            </a:r>
          </a:p>
        </p:txBody>
      </p:sp>
      <p:sp>
        <p:nvSpPr>
          <p:cNvPr id="3" name="Content Placeholder 2">
            <a:extLst>
              <a:ext uri="{FF2B5EF4-FFF2-40B4-BE49-F238E27FC236}">
                <a16:creationId xmlns:a16="http://schemas.microsoft.com/office/drawing/2014/main" id="{64A094D5-725B-43F6-BA78-60FA94056BB9}"/>
              </a:ext>
            </a:extLst>
          </p:cNvPr>
          <p:cNvSpPr>
            <a:spLocks noGrp="1"/>
          </p:cNvSpPr>
          <p:nvPr>
            <p:ph idx="1"/>
          </p:nvPr>
        </p:nvSpPr>
        <p:spPr>
          <a:xfrm>
            <a:off x="713989" y="4146716"/>
            <a:ext cx="10764019" cy="2041191"/>
          </a:xfrm>
        </p:spPr>
        <p:txBody>
          <a:bodyPr/>
          <a:lstStyle/>
          <a:p>
            <a:r>
              <a:rPr lang="en-US" sz="2000" dirty="0">
                <a:hlinkClick r:id="rId2"/>
              </a:rPr>
              <a:t>https://www.kaggle.com/tmdb/tmdb-movie-metadata?select=tmdb_5000_movies.csv</a:t>
            </a:r>
            <a:endParaRPr lang="en-US" sz="2000" dirty="0"/>
          </a:p>
          <a:p>
            <a:r>
              <a:rPr lang="en-US" sz="2000" dirty="0">
                <a:hlinkClick r:id="rId3"/>
              </a:rPr>
              <a:t>https://www.kaggle.com/tmdb/tmdb-movie-metadata?select=tmdb_5000_credits.csv</a:t>
            </a:r>
            <a:endParaRPr lang="en-US" sz="2000" dirty="0"/>
          </a:p>
          <a:p>
            <a:endParaRPr lang="en-US" dirty="0"/>
          </a:p>
        </p:txBody>
      </p:sp>
      <p:pic>
        <p:nvPicPr>
          <p:cNvPr id="4" name="Picture 3">
            <a:extLst>
              <a:ext uri="{FF2B5EF4-FFF2-40B4-BE49-F238E27FC236}">
                <a16:creationId xmlns:a16="http://schemas.microsoft.com/office/drawing/2014/main" id="{C65B56C3-BBA7-4B94-90C5-8C8A45241950}"/>
              </a:ext>
            </a:extLst>
          </p:cNvPr>
          <p:cNvPicPr>
            <a:picLocks noChangeAspect="1"/>
          </p:cNvPicPr>
          <p:nvPr/>
        </p:nvPicPr>
        <p:blipFill>
          <a:blip r:embed="rId4"/>
          <a:stretch>
            <a:fillRect/>
          </a:stretch>
        </p:blipFill>
        <p:spPr>
          <a:xfrm>
            <a:off x="589781" y="1690688"/>
            <a:ext cx="11012437" cy="2000529"/>
          </a:xfrm>
          <a:prstGeom prst="rect">
            <a:avLst/>
          </a:prstGeom>
        </p:spPr>
      </p:pic>
    </p:spTree>
    <p:extLst>
      <p:ext uri="{BB962C8B-B14F-4D97-AF65-F5344CB8AC3E}">
        <p14:creationId xmlns:p14="http://schemas.microsoft.com/office/powerpoint/2010/main" val="1200369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F1EB2-8820-4B1F-9299-85F47C0615E6}"/>
              </a:ext>
            </a:extLst>
          </p:cNvPr>
          <p:cNvSpPr>
            <a:spLocks noGrp="1"/>
          </p:cNvSpPr>
          <p:nvPr>
            <p:ph type="title"/>
          </p:nvPr>
        </p:nvSpPr>
        <p:spPr>
          <a:xfrm>
            <a:off x="328045" y="110254"/>
            <a:ext cx="10515600" cy="1325563"/>
          </a:xfrm>
        </p:spPr>
        <p:txBody>
          <a:bodyPr>
            <a:normAutofit/>
          </a:bodyPr>
          <a:lstStyle/>
          <a:p>
            <a:r>
              <a:rPr lang="en-US" sz="4000" b="1" dirty="0"/>
              <a:t>Tmdb_5000_movies.csv</a:t>
            </a:r>
          </a:p>
        </p:txBody>
      </p:sp>
      <p:pic>
        <p:nvPicPr>
          <p:cNvPr id="4" name="Picture 3">
            <a:extLst>
              <a:ext uri="{FF2B5EF4-FFF2-40B4-BE49-F238E27FC236}">
                <a16:creationId xmlns:a16="http://schemas.microsoft.com/office/drawing/2014/main" id="{FDEFC276-CF3A-4E5B-B553-A2A920C9CB10}"/>
              </a:ext>
            </a:extLst>
          </p:cNvPr>
          <p:cNvPicPr>
            <a:picLocks noChangeAspect="1"/>
          </p:cNvPicPr>
          <p:nvPr/>
        </p:nvPicPr>
        <p:blipFill>
          <a:blip r:embed="rId2"/>
          <a:stretch>
            <a:fillRect/>
          </a:stretch>
        </p:blipFill>
        <p:spPr>
          <a:xfrm>
            <a:off x="101974" y="1435817"/>
            <a:ext cx="7610566" cy="4859106"/>
          </a:xfrm>
          <a:prstGeom prst="rect">
            <a:avLst/>
          </a:prstGeom>
        </p:spPr>
      </p:pic>
      <p:pic>
        <p:nvPicPr>
          <p:cNvPr id="5" name="Picture 4">
            <a:extLst>
              <a:ext uri="{FF2B5EF4-FFF2-40B4-BE49-F238E27FC236}">
                <a16:creationId xmlns:a16="http://schemas.microsoft.com/office/drawing/2014/main" id="{09829983-5768-43DB-825C-AFF95596EEC6}"/>
              </a:ext>
            </a:extLst>
          </p:cNvPr>
          <p:cNvPicPr>
            <a:picLocks noChangeAspect="1"/>
          </p:cNvPicPr>
          <p:nvPr/>
        </p:nvPicPr>
        <p:blipFill>
          <a:blip r:embed="rId3"/>
          <a:stretch>
            <a:fillRect/>
          </a:stretch>
        </p:blipFill>
        <p:spPr>
          <a:xfrm>
            <a:off x="5361622" y="110254"/>
            <a:ext cx="6830378" cy="1105054"/>
          </a:xfrm>
          <a:prstGeom prst="rect">
            <a:avLst/>
          </a:prstGeom>
        </p:spPr>
      </p:pic>
      <p:pic>
        <p:nvPicPr>
          <p:cNvPr id="6" name="Picture 5">
            <a:extLst>
              <a:ext uri="{FF2B5EF4-FFF2-40B4-BE49-F238E27FC236}">
                <a16:creationId xmlns:a16="http://schemas.microsoft.com/office/drawing/2014/main" id="{83AD795B-99D0-4F01-B695-4D7342919DDB}"/>
              </a:ext>
            </a:extLst>
          </p:cNvPr>
          <p:cNvPicPr>
            <a:picLocks noChangeAspect="1"/>
          </p:cNvPicPr>
          <p:nvPr/>
        </p:nvPicPr>
        <p:blipFill>
          <a:blip r:embed="rId4"/>
          <a:stretch>
            <a:fillRect/>
          </a:stretch>
        </p:blipFill>
        <p:spPr>
          <a:xfrm>
            <a:off x="7712540" y="1383019"/>
            <a:ext cx="4201111" cy="4039164"/>
          </a:xfrm>
          <a:prstGeom prst="rect">
            <a:avLst/>
          </a:prstGeom>
        </p:spPr>
      </p:pic>
    </p:spTree>
    <p:extLst>
      <p:ext uri="{BB962C8B-B14F-4D97-AF65-F5344CB8AC3E}">
        <p14:creationId xmlns:p14="http://schemas.microsoft.com/office/powerpoint/2010/main" val="949909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FD950-D391-454B-A9EE-5F10C889B814}"/>
              </a:ext>
            </a:extLst>
          </p:cNvPr>
          <p:cNvSpPr>
            <a:spLocks noGrp="1"/>
          </p:cNvSpPr>
          <p:nvPr>
            <p:ph type="title"/>
          </p:nvPr>
        </p:nvSpPr>
        <p:spPr>
          <a:xfrm>
            <a:off x="838200" y="334980"/>
            <a:ext cx="10515600" cy="1325563"/>
          </a:xfrm>
        </p:spPr>
        <p:txBody>
          <a:bodyPr/>
          <a:lstStyle/>
          <a:p>
            <a:r>
              <a:rPr lang="en-US" b="1" dirty="0"/>
              <a:t>tmdb_5000_credits.csv</a:t>
            </a:r>
          </a:p>
        </p:txBody>
      </p:sp>
      <p:pic>
        <p:nvPicPr>
          <p:cNvPr id="4" name="Picture 3">
            <a:extLst>
              <a:ext uri="{FF2B5EF4-FFF2-40B4-BE49-F238E27FC236}">
                <a16:creationId xmlns:a16="http://schemas.microsoft.com/office/drawing/2014/main" id="{1FFC98B0-1989-443D-93D1-33154BC80B1A}"/>
              </a:ext>
            </a:extLst>
          </p:cNvPr>
          <p:cNvPicPr>
            <a:picLocks noChangeAspect="1"/>
          </p:cNvPicPr>
          <p:nvPr/>
        </p:nvPicPr>
        <p:blipFill>
          <a:blip r:embed="rId2"/>
          <a:stretch>
            <a:fillRect/>
          </a:stretch>
        </p:blipFill>
        <p:spPr>
          <a:xfrm>
            <a:off x="838200" y="1660543"/>
            <a:ext cx="9345329" cy="1762371"/>
          </a:xfrm>
          <a:prstGeom prst="rect">
            <a:avLst/>
          </a:prstGeom>
        </p:spPr>
      </p:pic>
      <p:pic>
        <p:nvPicPr>
          <p:cNvPr id="5" name="Picture 4">
            <a:extLst>
              <a:ext uri="{FF2B5EF4-FFF2-40B4-BE49-F238E27FC236}">
                <a16:creationId xmlns:a16="http://schemas.microsoft.com/office/drawing/2014/main" id="{90C2BFF4-4433-4F8E-A2B9-72027FAD940E}"/>
              </a:ext>
            </a:extLst>
          </p:cNvPr>
          <p:cNvPicPr>
            <a:picLocks noChangeAspect="1"/>
          </p:cNvPicPr>
          <p:nvPr/>
        </p:nvPicPr>
        <p:blipFill>
          <a:blip r:embed="rId3"/>
          <a:stretch>
            <a:fillRect/>
          </a:stretch>
        </p:blipFill>
        <p:spPr>
          <a:xfrm>
            <a:off x="838200" y="3682771"/>
            <a:ext cx="3915321" cy="1514686"/>
          </a:xfrm>
          <a:prstGeom prst="rect">
            <a:avLst/>
          </a:prstGeom>
        </p:spPr>
      </p:pic>
      <p:pic>
        <p:nvPicPr>
          <p:cNvPr id="6" name="Picture 5">
            <a:extLst>
              <a:ext uri="{FF2B5EF4-FFF2-40B4-BE49-F238E27FC236}">
                <a16:creationId xmlns:a16="http://schemas.microsoft.com/office/drawing/2014/main" id="{A609332E-0B91-4B5E-82DC-DB26ECCDDC6E}"/>
              </a:ext>
            </a:extLst>
          </p:cNvPr>
          <p:cNvPicPr>
            <a:picLocks noChangeAspect="1"/>
          </p:cNvPicPr>
          <p:nvPr/>
        </p:nvPicPr>
        <p:blipFill>
          <a:blip r:embed="rId4"/>
          <a:stretch>
            <a:fillRect/>
          </a:stretch>
        </p:blipFill>
        <p:spPr>
          <a:xfrm>
            <a:off x="5979930" y="4297219"/>
            <a:ext cx="5115639" cy="285790"/>
          </a:xfrm>
          <a:prstGeom prst="rect">
            <a:avLst/>
          </a:prstGeom>
        </p:spPr>
      </p:pic>
    </p:spTree>
    <p:extLst>
      <p:ext uri="{BB962C8B-B14F-4D97-AF65-F5344CB8AC3E}">
        <p14:creationId xmlns:p14="http://schemas.microsoft.com/office/powerpoint/2010/main" val="3839145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6D8F7-2FC9-48AE-BB7C-CAA249A687AB}"/>
              </a:ext>
            </a:extLst>
          </p:cNvPr>
          <p:cNvSpPr>
            <a:spLocks noGrp="1"/>
          </p:cNvSpPr>
          <p:nvPr>
            <p:ph type="title"/>
          </p:nvPr>
        </p:nvSpPr>
        <p:spPr>
          <a:xfrm>
            <a:off x="315686" y="0"/>
            <a:ext cx="10515600" cy="1325563"/>
          </a:xfrm>
        </p:spPr>
        <p:txBody>
          <a:bodyPr>
            <a:normAutofit/>
          </a:bodyPr>
          <a:lstStyle/>
          <a:p>
            <a:r>
              <a:rPr lang="en-US" sz="3600" b="1" dirty="0"/>
              <a:t>Merging and Cleaning the Data</a:t>
            </a:r>
          </a:p>
        </p:txBody>
      </p:sp>
      <p:pic>
        <p:nvPicPr>
          <p:cNvPr id="4" name="Picture 3">
            <a:extLst>
              <a:ext uri="{FF2B5EF4-FFF2-40B4-BE49-F238E27FC236}">
                <a16:creationId xmlns:a16="http://schemas.microsoft.com/office/drawing/2014/main" id="{93262467-9725-4436-9BBE-389D0CA0D726}"/>
              </a:ext>
            </a:extLst>
          </p:cNvPr>
          <p:cNvPicPr>
            <a:picLocks noChangeAspect="1"/>
          </p:cNvPicPr>
          <p:nvPr/>
        </p:nvPicPr>
        <p:blipFill>
          <a:blip r:embed="rId2"/>
          <a:stretch>
            <a:fillRect/>
          </a:stretch>
        </p:blipFill>
        <p:spPr>
          <a:xfrm>
            <a:off x="255842" y="1119108"/>
            <a:ext cx="6335877" cy="2332529"/>
          </a:xfrm>
          <a:prstGeom prst="rect">
            <a:avLst/>
          </a:prstGeom>
        </p:spPr>
      </p:pic>
      <p:pic>
        <p:nvPicPr>
          <p:cNvPr id="5" name="Picture 4">
            <a:extLst>
              <a:ext uri="{FF2B5EF4-FFF2-40B4-BE49-F238E27FC236}">
                <a16:creationId xmlns:a16="http://schemas.microsoft.com/office/drawing/2014/main" id="{31C60B3D-BD9F-474D-BC02-23B8F19BC028}"/>
              </a:ext>
            </a:extLst>
          </p:cNvPr>
          <p:cNvPicPr>
            <a:picLocks noChangeAspect="1"/>
          </p:cNvPicPr>
          <p:nvPr/>
        </p:nvPicPr>
        <p:blipFill>
          <a:blip r:embed="rId3"/>
          <a:stretch>
            <a:fillRect/>
          </a:stretch>
        </p:blipFill>
        <p:spPr>
          <a:xfrm>
            <a:off x="232635" y="3805533"/>
            <a:ext cx="5973009" cy="1543265"/>
          </a:xfrm>
          <a:prstGeom prst="rect">
            <a:avLst/>
          </a:prstGeom>
        </p:spPr>
      </p:pic>
      <p:pic>
        <p:nvPicPr>
          <p:cNvPr id="6" name="Picture 5">
            <a:extLst>
              <a:ext uri="{FF2B5EF4-FFF2-40B4-BE49-F238E27FC236}">
                <a16:creationId xmlns:a16="http://schemas.microsoft.com/office/drawing/2014/main" id="{5BAE99F6-028C-4355-8216-F99DC158F9B8}"/>
              </a:ext>
            </a:extLst>
          </p:cNvPr>
          <p:cNvPicPr>
            <a:picLocks noChangeAspect="1"/>
          </p:cNvPicPr>
          <p:nvPr/>
        </p:nvPicPr>
        <p:blipFill>
          <a:blip r:embed="rId4"/>
          <a:stretch>
            <a:fillRect/>
          </a:stretch>
        </p:blipFill>
        <p:spPr>
          <a:xfrm>
            <a:off x="6591719" y="512465"/>
            <a:ext cx="5191276" cy="6134519"/>
          </a:xfrm>
          <a:prstGeom prst="rect">
            <a:avLst/>
          </a:prstGeom>
        </p:spPr>
      </p:pic>
    </p:spTree>
    <p:extLst>
      <p:ext uri="{BB962C8B-B14F-4D97-AF65-F5344CB8AC3E}">
        <p14:creationId xmlns:p14="http://schemas.microsoft.com/office/powerpoint/2010/main" val="2568547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4192-A40F-47C3-9EA8-DA849C60D96D}"/>
              </a:ext>
            </a:extLst>
          </p:cNvPr>
          <p:cNvSpPr>
            <a:spLocks noGrp="1"/>
          </p:cNvSpPr>
          <p:nvPr>
            <p:ph type="title"/>
          </p:nvPr>
        </p:nvSpPr>
        <p:spPr/>
        <p:txBody>
          <a:bodyPr/>
          <a:lstStyle/>
          <a:p>
            <a:r>
              <a:rPr lang="en-US" b="1" dirty="0"/>
              <a:t>Content Based Filtering</a:t>
            </a:r>
          </a:p>
        </p:txBody>
      </p:sp>
      <p:sp>
        <p:nvSpPr>
          <p:cNvPr id="3" name="Content Placeholder 2">
            <a:extLst>
              <a:ext uri="{FF2B5EF4-FFF2-40B4-BE49-F238E27FC236}">
                <a16:creationId xmlns:a16="http://schemas.microsoft.com/office/drawing/2014/main" id="{75D5C322-7664-4156-9E0B-F7B7EE74EFBA}"/>
              </a:ext>
            </a:extLst>
          </p:cNvPr>
          <p:cNvSpPr>
            <a:spLocks noGrp="1"/>
          </p:cNvSpPr>
          <p:nvPr>
            <p:ph idx="1"/>
          </p:nvPr>
        </p:nvSpPr>
        <p:spPr/>
        <p:txBody>
          <a:bodyPr/>
          <a:lstStyle/>
          <a:p>
            <a:r>
              <a:rPr lang="en-US" dirty="0"/>
              <a:t>In this type of recommendation system, the contents or features of a movie, such as its overview, cast, crew, etc., are used to recommend to the user.</a:t>
            </a:r>
          </a:p>
          <a:p>
            <a:r>
              <a:rPr lang="en-US" dirty="0"/>
              <a:t>Other types of system, such as collaborative filtering are used to recommend something that other users have used or tried before.</a:t>
            </a:r>
          </a:p>
        </p:txBody>
      </p:sp>
    </p:spTree>
    <p:extLst>
      <p:ext uri="{BB962C8B-B14F-4D97-AF65-F5344CB8AC3E}">
        <p14:creationId xmlns:p14="http://schemas.microsoft.com/office/powerpoint/2010/main" val="2032424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EBAEC-193D-4DE0-A4E5-D965B02BAC59}"/>
              </a:ext>
            </a:extLst>
          </p:cNvPr>
          <p:cNvSpPr>
            <a:spLocks noGrp="1"/>
          </p:cNvSpPr>
          <p:nvPr>
            <p:ph type="title"/>
          </p:nvPr>
        </p:nvSpPr>
        <p:spPr/>
        <p:txBody>
          <a:bodyPr/>
          <a:lstStyle/>
          <a:p>
            <a:r>
              <a:rPr lang="en-US" b="1" dirty="0"/>
              <a:t>Linear Kernel using Movie Overviews</a:t>
            </a:r>
          </a:p>
        </p:txBody>
      </p:sp>
      <p:sp>
        <p:nvSpPr>
          <p:cNvPr id="3" name="Content Placeholder 2">
            <a:extLst>
              <a:ext uri="{FF2B5EF4-FFF2-40B4-BE49-F238E27FC236}">
                <a16:creationId xmlns:a16="http://schemas.microsoft.com/office/drawing/2014/main" id="{6A665EBA-93EA-4B57-B5A0-72FECE13A873}"/>
              </a:ext>
            </a:extLst>
          </p:cNvPr>
          <p:cNvSpPr>
            <a:spLocks noGrp="1"/>
          </p:cNvSpPr>
          <p:nvPr>
            <p:ph idx="1"/>
          </p:nvPr>
        </p:nvSpPr>
        <p:spPr>
          <a:xfrm>
            <a:off x="838200" y="1702346"/>
            <a:ext cx="10515600" cy="746753"/>
          </a:xfrm>
        </p:spPr>
        <p:txBody>
          <a:bodyPr/>
          <a:lstStyle/>
          <a:p>
            <a:r>
              <a:rPr lang="en-US" dirty="0"/>
              <a:t>Part of SVM; mainly used for pattern analysis and text classification.</a:t>
            </a:r>
          </a:p>
        </p:txBody>
      </p:sp>
      <p:pic>
        <p:nvPicPr>
          <p:cNvPr id="4" name="Picture 3">
            <a:extLst>
              <a:ext uri="{FF2B5EF4-FFF2-40B4-BE49-F238E27FC236}">
                <a16:creationId xmlns:a16="http://schemas.microsoft.com/office/drawing/2014/main" id="{8A7A129C-9C92-4EA5-8334-3FCB8D33038B}"/>
              </a:ext>
            </a:extLst>
          </p:cNvPr>
          <p:cNvPicPr>
            <a:picLocks noChangeAspect="1"/>
          </p:cNvPicPr>
          <p:nvPr/>
        </p:nvPicPr>
        <p:blipFill>
          <a:blip r:embed="rId2"/>
          <a:stretch>
            <a:fillRect/>
          </a:stretch>
        </p:blipFill>
        <p:spPr>
          <a:xfrm>
            <a:off x="838200" y="2449099"/>
            <a:ext cx="9764488" cy="1105054"/>
          </a:xfrm>
          <a:prstGeom prst="rect">
            <a:avLst/>
          </a:prstGeom>
        </p:spPr>
      </p:pic>
      <p:pic>
        <p:nvPicPr>
          <p:cNvPr id="5" name="Picture 4">
            <a:extLst>
              <a:ext uri="{FF2B5EF4-FFF2-40B4-BE49-F238E27FC236}">
                <a16:creationId xmlns:a16="http://schemas.microsoft.com/office/drawing/2014/main" id="{70AE6BAC-7063-4A5F-A1DE-71252A10F67A}"/>
              </a:ext>
            </a:extLst>
          </p:cNvPr>
          <p:cNvPicPr>
            <a:picLocks noChangeAspect="1"/>
          </p:cNvPicPr>
          <p:nvPr/>
        </p:nvPicPr>
        <p:blipFill>
          <a:blip r:embed="rId3"/>
          <a:stretch>
            <a:fillRect/>
          </a:stretch>
        </p:blipFill>
        <p:spPr>
          <a:xfrm>
            <a:off x="838200" y="3554153"/>
            <a:ext cx="5668166" cy="1686160"/>
          </a:xfrm>
          <a:prstGeom prst="rect">
            <a:avLst/>
          </a:prstGeom>
        </p:spPr>
      </p:pic>
      <p:sp>
        <p:nvSpPr>
          <p:cNvPr id="6" name="TextBox 5">
            <a:extLst>
              <a:ext uri="{FF2B5EF4-FFF2-40B4-BE49-F238E27FC236}">
                <a16:creationId xmlns:a16="http://schemas.microsoft.com/office/drawing/2014/main" id="{0B0D9AAA-5E33-4755-A524-F0DA03BEF99E}"/>
              </a:ext>
            </a:extLst>
          </p:cNvPr>
          <p:cNvSpPr txBox="1"/>
          <p:nvPr/>
        </p:nvSpPr>
        <p:spPr>
          <a:xfrm>
            <a:off x="1014883" y="5828044"/>
            <a:ext cx="8842549" cy="369332"/>
          </a:xfrm>
          <a:prstGeom prst="rect">
            <a:avLst/>
          </a:prstGeom>
          <a:noFill/>
        </p:spPr>
        <p:txBody>
          <a:bodyPr wrap="square" rtlCol="0">
            <a:spAutoFit/>
          </a:bodyPr>
          <a:lstStyle/>
          <a:p>
            <a:r>
              <a:rPr lang="en-US" dirty="0"/>
              <a:t>All the overviews are taken and then converted into a matrix with weights on the words.</a:t>
            </a:r>
          </a:p>
        </p:txBody>
      </p:sp>
      <p:pic>
        <p:nvPicPr>
          <p:cNvPr id="7" name="Picture 6">
            <a:extLst>
              <a:ext uri="{FF2B5EF4-FFF2-40B4-BE49-F238E27FC236}">
                <a16:creationId xmlns:a16="http://schemas.microsoft.com/office/drawing/2014/main" id="{FD46E870-E4A9-4632-8FAD-78A58D6D5705}"/>
              </a:ext>
            </a:extLst>
          </p:cNvPr>
          <p:cNvPicPr>
            <a:picLocks noChangeAspect="1"/>
          </p:cNvPicPr>
          <p:nvPr/>
        </p:nvPicPr>
        <p:blipFill>
          <a:blip r:embed="rId4"/>
          <a:stretch>
            <a:fillRect/>
          </a:stretch>
        </p:blipFill>
        <p:spPr>
          <a:xfrm>
            <a:off x="6506365" y="3557382"/>
            <a:ext cx="5668165" cy="1875668"/>
          </a:xfrm>
          <a:prstGeom prst="rect">
            <a:avLst/>
          </a:prstGeom>
        </p:spPr>
      </p:pic>
    </p:spTree>
    <p:extLst>
      <p:ext uri="{BB962C8B-B14F-4D97-AF65-F5344CB8AC3E}">
        <p14:creationId xmlns:p14="http://schemas.microsoft.com/office/powerpoint/2010/main" val="4284950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BBF65-3F9F-46BC-B930-FA552C5CE8D7}"/>
              </a:ext>
            </a:extLst>
          </p:cNvPr>
          <p:cNvSpPr>
            <a:spLocks noGrp="1"/>
          </p:cNvSpPr>
          <p:nvPr>
            <p:ph type="title"/>
          </p:nvPr>
        </p:nvSpPr>
        <p:spPr/>
        <p:txBody>
          <a:bodyPr/>
          <a:lstStyle/>
          <a:p>
            <a:r>
              <a:rPr lang="en-US" b="1" dirty="0"/>
              <a:t>Linear Kernel using Movie Overviews...</a:t>
            </a:r>
          </a:p>
        </p:txBody>
      </p:sp>
      <p:pic>
        <p:nvPicPr>
          <p:cNvPr id="4" name="Picture 3">
            <a:extLst>
              <a:ext uri="{FF2B5EF4-FFF2-40B4-BE49-F238E27FC236}">
                <a16:creationId xmlns:a16="http://schemas.microsoft.com/office/drawing/2014/main" id="{A0048A86-B992-48EB-9109-75D01D93469C}"/>
              </a:ext>
            </a:extLst>
          </p:cNvPr>
          <p:cNvPicPr>
            <a:picLocks noChangeAspect="1"/>
          </p:cNvPicPr>
          <p:nvPr/>
        </p:nvPicPr>
        <p:blipFill>
          <a:blip r:embed="rId2"/>
          <a:stretch>
            <a:fillRect/>
          </a:stretch>
        </p:blipFill>
        <p:spPr>
          <a:xfrm>
            <a:off x="0" y="1690688"/>
            <a:ext cx="5926156" cy="2871264"/>
          </a:xfrm>
          <a:prstGeom prst="rect">
            <a:avLst/>
          </a:prstGeom>
        </p:spPr>
      </p:pic>
      <p:pic>
        <p:nvPicPr>
          <p:cNvPr id="5" name="Picture 4">
            <a:extLst>
              <a:ext uri="{FF2B5EF4-FFF2-40B4-BE49-F238E27FC236}">
                <a16:creationId xmlns:a16="http://schemas.microsoft.com/office/drawing/2014/main" id="{8E486698-9847-427C-8373-2C407DD1AEFA}"/>
              </a:ext>
            </a:extLst>
          </p:cNvPr>
          <p:cNvPicPr>
            <a:picLocks noChangeAspect="1"/>
          </p:cNvPicPr>
          <p:nvPr/>
        </p:nvPicPr>
        <p:blipFill>
          <a:blip r:embed="rId3"/>
          <a:stretch>
            <a:fillRect/>
          </a:stretch>
        </p:blipFill>
        <p:spPr>
          <a:xfrm>
            <a:off x="5094885" y="1690688"/>
            <a:ext cx="7097115" cy="5020376"/>
          </a:xfrm>
          <a:prstGeom prst="rect">
            <a:avLst/>
          </a:prstGeom>
        </p:spPr>
      </p:pic>
      <p:sp>
        <p:nvSpPr>
          <p:cNvPr id="6" name="TextBox 5">
            <a:extLst>
              <a:ext uri="{FF2B5EF4-FFF2-40B4-BE49-F238E27FC236}">
                <a16:creationId xmlns:a16="http://schemas.microsoft.com/office/drawing/2014/main" id="{2061A1CB-DE78-4630-ACAD-CF01827B32C7}"/>
              </a:ext>
            </a:extLst>
          </p:cNvPr>
          <p:cNvSpPr txBox="1"/>
          <p:nvPr/>
        </p:nvSpPr>
        <p:spPr>
          <a:xfrm>
            <a:off x="180871" y="4851678"/>
            <a:ext cx="4914014" cy="1569660"/>
          </a:xfrm>
          <a:prstGeom prst="rect">
            <a:avLst/>
          </a:prstGeom>
          <a:noFill/>
        </p:spPr>
        <p:txBody>
          <a:bodyPr wrap="square" rtlCol="0">
            <a:spAutoFit/>
          </a:bodyPr>
          <a:lstStyle/>
          <a:p>
            <a:r>
              <a:rPr lang="en-US" sz="1600" dirty="0"/>
              <a:t>Based on these results, recommending movies based on context would be very weak, as we are only basing this off overviews, which typically is a hook line for people to watch a movie. However, this does not mean it is not unreliable, as some results do help recommend other movies similar to it.</a:t>
            </a:r>
          </a:p>
        </p:txBody>
      </p:sp>
    </p:spTree>
    <p:extLst>
      <p:ext uri="{BB962C8B-B14F-4D97-AF65-F5344CB8AC3E}">
        <p14:creationId xmlns:p14="http://schemas.microsoft.com/office/powerpoint/2010/main" val="2772066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AFC2-8D36-4BAE-8BEE-F24061EF0B90}"/>
              </a:ext>
            </a:extLst>
          </p:cNvPr>
          <p:cNvSpPr>
            <a:spLocks noGrp="1"/>
          </p:cNvSpPr>
          <p:nvPr>
            <p:ph type="title"/>
          </p:nvPr>
        </p:nvSpPr>
        <p:spPr>
          <a:xfrm>
            <a:off x="838200" y="0"/>
            <a:ext cx="10515600" cy="1325563"/>
          </a:xfrm>
        </p:spPr>
        <p:txBody>
          <a:bodyPr/>
          <a:lstStyle/>
          <a:p>
            <a:r>
              <a:rPr lang="en-US" b="1" dirty="0"/>
              <a:t>KNN with Genre and the Cast as Features</a:t>
            </a:r>
          </a:p>
        </p:txBody>
      </p:sp>
      <p:pic>
        <p:nvPicPr>
          <p:cNvPr id="4" name="Picture 3">
            <a:extLst>
              <a:ext uri="{FF2B5EF4-FFF2-40B4-BE49-F238E27FC236}">
                <a16:creationId xmlns:a16="http://schemas.microsoft.com/office/drawing/2014/main" id="{D6082612-BAE1-4E5A-8EA6-1F095DD61897}"/>
              </a:ext>
            </a:extLst>
          </p:cNvPr>
          <p:cNvPicPr>
            <a:picLocks noChangeAspect="1"/>
          </p:cNvPicPr>
          <p:nvPr/>
        </p:nvPicPr>
        <p:blipFill>
          <a:blip r:embed="rId2"/>
          <a:stretch>
            <a:fillRect/>
          </a:stretch>
        </p:blipFill>
        <p:spPr>
          <a:xfrm>
            <a:off x="614441" y="1237453"/>
            <a:ext cx="3324689" cy="5287113"/>
          </a:xfrm>
          <a:prstGeom prst="rect">
            <a:avLst/>
          </a:prstGeom>
        </p:spPr>
      </p:pic>
      <p:pic>
        <p:nvPicPr>
          <p:cNvPr id="5" name="Picture 4">
            <a:extLst>
              <a:ext uri="{FF2B5EF4-FFF2-40B4-BE49-F238E27FC236}">
                <a16:creationId xmlns:a16="http://schemas.microsoft.com/office/drawing/2014/main" id="{F8DB4EF3-519C-4BD2-8FC1-D2259C0D4953}"/>
              </a:ext>
            </a:extLst>
          </p:cNvPr>
          <p:cNvPicPr>
            <a:picLocks noChangeAspect="1"/>
          </p:cNvPicPr>
          <p:nvPr/>
        </p:nvPicPr>
        <p:blipFill>
          <a:blip r:embed="rId3"/>
          <a:stretch>
            <a:fillRect/>
          </a:stretch>
        </p:blipFill>
        <p:spPr>
          <a:xfrm>
            <a:off x="3968880" y="1237453"/>
            <a:ext cx="5153744" cy="2438740"/>
          </a:xfrm>
          <a:prstGeom prst="rect">
            <a:avLst/>
          </a:prstGeom>
        </p:spPr>
      </p:pic>
      <p:pic>
        <p:nvPicPr>
          <p:cNvPr id="6" name="Picture 5">
            <a:extLst>
              <a:ext uri="{FF2B5EF4-FFF2-40B4-BE49-F238E27FC236}">
                <a16:creationId xmlns:a16="http://schemas.microsoft.com/office/drawing/2014/main" id="{56E5387E-2566-4D1B-9836-FA2AF6813869}"/>
              </a:ext>
            </a:extLst>
          </p:cNvPr>
          <p:cNvPicPr>
            <a:picLocks noChangeAspect="1"/>
          </p:cNvPicPr>
          <p:nvPr/>
        </p:nvPicPr>
        <p:blipFill>
          <a:blip r:embed="rId4"/>
          <a:stretch>
            <a:fillRect/>
          </a:stretch>
        </p:blipFill>
        <p:spPr>
          <a:xfrm>
            <a:off x="9572376" y="1119127"/>
            <a:ext cx="1781424" cy="5325218"/>
          </a:xfrm>
          <a:prstGeom prst="rect">
            <a:avLst/>
          </a:prstGeom>
        </p:spPr>
      </p:pic>
      <p:sp>
        <p:nvSpPr>
          <p:cNvPr id="7" name="TextBox 6">
            <a:extLst>
              <a:ext uri="{FF2B5EF4-FFF2-40B4-BE49-F238E27FC236}">
                <a16:creationId xmlns:a16="http://schemas.microsoft.com/office/drawing/2014/main" id="{ED57D647-B0B3-487B-89E7-1BC3C4A86160}"/>
              </a:ext>
            </a:extLst>
          </p:cNvPr>
          <p:cNvSpPr txBox="1"/>
          <p:nvPr/>
        </p:nvSpPr>
        <p:spPr>
          <a:xfrm>
            <a:off x="4490334" y="5134707"/>
            <a:ext cx="4632290" cy="1200329"/>
          </a:xfrm>
          <a:prstGeom prst="rect">
            <a:avLst/>
          </a:prstGeom>
          <a:noFill/>
        </p:spPr>
        <p:txBody>
          <a:bodyPr wrap="square" rtlCol="0">
            <a:spAutoFit/>
          </a:bodyPr>
          <a:lstStyle/>
          <a:p>
            <a:r>
              <a:rPr lang="en-US" dirty="0"/>
              <a:t>In order to use KNN with our dataset, genre and features needed to be in a list, where 1 represents that the movie is in that specific index of unique genre or cast. </a:t>
            </a:r>
          </a:p>
        </p:txBody>
      </p:sp>
      <p:cxnSp>
        <p:nvCxnSpPr>
          <p:cNvPr id="9" name="Straight Arrow Connector 8">
            <a:extLst>
              <a:ext uri="{FF2B5EF4-FFF2-40B4-BE49-F238E27FC236}">
                <a16:creationId xmlns:a16="http://schemas.microsoft.com/office/drawing/2014/main" id="{6BC0D51C-34AA-4FC4-AD2B-82E2C75A5F26}"/>
              </a:ext>
            </a:extLst>
          </p:cNvPr>
          <p:cNvCxnSpPr/>
          <p:nvPr/>
        </p:nvCxnSpPr>
        <p:spPr>
          <a:xfrm flipV="1">
            <a:off x="7803117" y="4401177"/>
            <a:ext cx="1739509" cy="733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648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507B937-E447-4550-9DF2-CA3D6630BE34}"/>
              </a:ext>
            </a:extLst>
          </p:cNvPr>
          <p:cNvSpPr>
            <a:spLocks noGrp="1"/>
          </p:cNvSpPr>
          <p:nvPr>
            <p:ph type="title"/>
          </p:nvPr>
        </p:nvSpPr>
        <p:spPr>
          <a:xfrm>
            <a:off x="901085" y="176509"/>
            <a:ext cx="6022475" cy="1024932"/>
          </a:xfrm>
        </p:spPr>
        <p:txBody>
          <a:bodyPr>
            <a:normAutofit fontScale="90000"/>
          </a:bodyPr>
          <a:lstStyle/>
          <a:p>
            <a:r>
              <a:rPr lang="en-US" b="1" dirty="0"/>
              <a:t>KNN with Genre and the Cast as Features</a:t>
            </a:r>
          </a:p>
        </p:txBody>
      </p:sp>
      <p:pic>
        <p:nvPicPr>
          <p:cNvPr id="6" name="Picture 5">
            <a:extLst>
              <a:ext uri="{FF2B5EF4-FFF2-40B4-BE49-F238E27FC236}">
                <a16:creationId xmlns:a16="http://schemas.microsoft.com/office/drawing/2014/main" id="{A92A55A1-7999-4820-B230-002585019683}"/>
              </a:ext>
            </a:extLst>
          </p:cNvPr>
          <p:cNvPicPr>
            <a:picLocks noChangeAspect="1"/>
          </p:cNvPicPr>
          <p:nvPr/>
        </p:nvPicPr>
        <p:blipFill>
          <a:blip r:embed="rId2"/>
          <a:stretch>
            <a:fillRect/>
          </a:stretch>
        </p:blipFill>
        <p:spPr>
          <a:xfrm>
            <a:off x="351489" y="1640516"/>
            <a:ext cx="3560834" cy="4778409"/>
          </a:xfrm>
          <a:prstGeom prst="rect">
            <a:avLst/>
          </a:prstGeom>
        </p:spPr>
      </p:pic>
      <p:sp>
        <p:nvSpPr>
          <p:cNvPr id="7" name="TextBox 6">
            <a:extLst>
              <a:ext uri="{FF2B5EF4-FFF2-40B4-BE49-F238E27FC236}">
                <a16:creationId xmlns:a16="http://schemas.microsoft.com/office/drawing/2014/main" id="{12C2F2C5-1F5E-4D42-BC37-B7B688547ABA}"/>
              </a:ext>
            </a:extLst>
          </p:cNvPr>
          <p:cNvSpPr txBox="1"/>
          <p:nvPr/>
        </p:nvSpPr>
        <p:spPr>
          <a:xfrm>
            <a:off x="4290245" y="3429000"/>
            <a:ext cx="3611511" cy="2031325"/>
          </a:xfrm>
          <a:prstGeom prst="rect">
            <a:avLst/>
          </a:prstGeom>
          <a:noFill/>
        </p:spPr>
        <p:txBody>
          <a:bodyPr wrap="square" rtlCol="0">
            <a:spAutoFit/>
          </a:bodyPr>
          <a:lstStyle/>
          <a:p>
            <a:r>
              <a:rPr lang="en-US" sz="1400" dirty="0"/>
              <a:t>Based on the results, it's hard to use this as a good recommendation for movies in general aside from just recommending movies with certain actors in it. There may be distances between two movies that are smaller than 0.5, but it's hard to consider it a good recommendation as they are only related in genre and actors, and not the context of the movie itself.</a:t>
            </a:r>
          </a:p>
        </p:txBody>
      </p:sp>
      <p:pic>
        <p:nvPicPr>
          <p:cNvPr id="2" name="Picture 1">
            <a:extLst>
              <a:ext uri="{FF2B5EF4-FFF2-40B4-BE49-F238E27FC236}">
                <a16:creationId xmlns:a16="http://schemas.microsoft.com/office/drawing/2014/main" id="{3991D823-CF29-4EEF-A036-71934DF681D1}"/>
              </a:ext>
            </a:extLst>
          </p:cNvPr>
          <p:cNvPicPr>
            <a:picLocks noChangeAspect="1"/>
          </p:cNvPicPr>
          <p:nvPr/>
        </p:nvPicPr>
        <p:blipFill>
          <a:blip r:embed="rId3"/>
          <a:stretch>
            <a:fillRect/>
          </a:stretch>
        </p:blipFill>
        <p:spPr>
          <a:xfrm>
            <a:off x="7901756" y="0"/>
            <a:ext cx="3935767" cy="6858000"/>
          </a:xfrm>
          <a:prstGeom prst="rect">
            <a:avLst/>
          </a:prstGeom>
        </p:spPr>
      </p:pic>
    </p:spTree>
    <p:extLst>
      <p:ext uri="{BB962C8B-B14F-4D97-AF65-F5344CB8AC3E}">
        <p14:creationId xmlns:p14="http://schemas.microsoft.com/office/powerpoint/2010/main" val="2714319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CBDB-8B82-47FC-9C30-1178EBD1D5DC}"/>
              </a:ext>
            </a:extLst>
          </p:cNvPr>
          <p:cNvSpPr>
            <a:spLocks noGrp="1"/>
          </p:cNvSpPr>
          <p:nvPr>
            <p:ph type="title"/>
          </p:nvPr>
        </p:nvSpPr>
        <p:spPr>
          <a:xfrm>
            <a:off x="838200" y="0"/>
            <a:ext cx="10515600" cy="1325563"/>
          </a:xfrm>
        </p:spPr>
        <p:txBody>
          <a:bodyPr/>
          <a:lstStyle/>
          <a:p>
            <a:r>
              <a:rPr lang="en-US" b="1" dirty="0"/>
              <a:t>KNN with Genre and Director as Features</a:t>
            </a:r>
          </a:p>
        </p:txBody>
      </p:sp>
      <p:pic>
        <p:nvPicPr>
          <p:cNvPr id="4" name="Picture 3">
            <a:extLst>
              <a:ext uri="{FF2B5EF4-FFF2-40B4-BE49-F238E27FC236}">
                <a16:creationId xmlns:a16="http://schemas.microsoft.com/office/drawing/2014/main" id="{5C57E1D0-E365-432D-B41A-3EDA2A607D0A}"/>
              </a:ext>
            </a:extLst>
          </p:cNvPr>
          <p:cNvPicPr>
            <a:picLocks noChangeAspect="1"/>
          </p:cNvPicPr>
          <p:nvPr/>
        </p:nvPicPr>
        <p:blipFill>
          <a:blip r:embed="rId2"/>
          <a:stretch>
            <a:fillRect/>
          </a:stretch>
        </p:blipFill>
        <p:spPr>
          <a:xfrm>
            <a:off x="391885" y="1080029"/>
            <a:ext cx="5830452" cy="5627246"/>
          </a:xfrm>
          <a:prstGeom prst="rect">
            <a:avLst/>
          </a:prstGeom>
        </p:spPr>
      </p:pic>
      <p:pic>
        <p:nvPicPr>
          <p:cNvPr id="5" name="Picture 4">
            <a:extLst>
              <a:ext uri="{FF2B5EF4-FFF2-40B4-BE49-F238E27FC236}">
                <a16:creationId xmlns:a16="http://schemas.microsoft.com/office/drawing/2014/main" id="{F4BA693D-B62D-45B6-928D-E0C48497306F}"/>
              </a:ext>
            </a:extLst>
          </p:cNvPr>
          <p:cNvPicPr>
            <a:picLocks noChangeAspect="1"/>
          </p:cNvPicPr>
          <p:nvPr/>
        </p:nvPicPr>
        <p:blipFill>
          <a:blip r:embed="rId3"/>
          <a:stretch>
            <a:fillRect/>
          </a:stretch>
        </p:blipFill>
        <p:spPr>
          <a:xfrm>
            <a:off x="6356867" y="1080029"/>
            <a:ext cx="1086002" cy="5372850"/>
          </a:xfrm>
          <a:prstGeom prst="rect">
            <a:avLst/>
          </a:prstGeom>
        </p:spPr>
      </p:pic>
      <p:sp>
        <p:nvSpPr>
          <p:cNvPr id="6" name="TextBox 5">
            <a:extLst>
              <a:ext uri="{FF2B5EF4-FFF2-40B4-BE49-F238E27FC236}">
                <a16:creationId xmlns:a16="http://schemas.microsoft.com/office/drawing/2014/main" id="{3428A756-6167-4688-8AFE-245D5353B77C}"/>
              </a:ext>
            </a:extLst>
          </p:cNvPr>
          <p:cNvSpPr txBox="1"/>
          <p:nvPr/>
        </p:nvSpPr>
        <p:spPr>
          <a:xfrm>
            <a:off x="7908053" y="1577590"/>
            <a:ext cx="3445747" cy="1200329"/>
          </a:xfrm>
          <a:prstGeom prst="rect">
            <a:avLst/>
          </a:prstGeom>
          <a:noFill/>
        </p:spPr>
        <p:txBody>
          <a:bodyPr wrap="square" rtlCol="0">
            <a:spAutoFit/>
          </a:bodyPr>
          <a:lstStyle/>
          <a:p>
            <a:r>
              <a:rPr lang="en-US" dirty="0"/>
              <a:t>Like before, we take each unique director and append a 1 to the list if they are the director of the movie that is shown.</a:t>
            </a:r>
          </a:p>
        </p:txBody>
      </p:sp>
    </p:spTree>
    <p:extLst>
      <p:ext uri="{BB962C8B-B14F-4D97-AF65-F5344CB8AC3E}">
        <p14:creationId xmlns:p14="http://schemas.microsoft.com/office/powerpoint/2010/main" val="3461077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C84F-731F-4472-8554-50BD14D6CFFC}"/>
              </a:ext>
            </a:extLst>
          </p:cNvPr>
          <p:cNvSpPr>
            <a:spLocks noGrp="1"/>
          </p:cNvSpPr>
          <p:nvPr>
            <p:ph type="title"/>
          </p:nvPr>
        </p:nvSpPr>
        <p:spPr>
          <a:xfrm>
            <a:off x="838200" y="0"/>
            <a:ext cx="5874099" cy="1325563"/>
          </a:xfrm>
        </p:spPr>
        <p:txBody>
          <a:bodyPr/>
          <a:lstStyle/>
          <a:p>
            <a:r>
              <a:rPr lang="en-US" b="1" dirty="0"/>
              <a:t>KNN with Genres and Director as Features</a:t>
            </a:r>
          </a:p>
        </p:txBody>
      </p:sp>
      <p:pic>
        <p:nvPicPr>
          <p:cNvPr id="5" name="Picture 4">
            <a:extLst>
              <a:ext uri="{FF2B5EF4-FFF2-40B4-BE49-F238E27FC236}">
                <a16:creationId xmlns:a16="http://schemas.microsoft.com/office/drawing/2014/main" id="{53AA4F3A-FDC5-4762-975D-0EEB22EE8BFC}"/>
              </a:ext>
            </a:extLst>
          </p:cNvPr>
          <p:cNvPicPr>
            <a:picLocks noChangeAspect="1"/>
          </p:cNvPicPr>
          <p:nvPr/>
        </p:nvPicPr>
        <p:blipFill>
          <a:blip r:embed="rId2"/>
          <a:stretch>
            <a:fillRect/>
          </a:stretch>
        </p:blipFill>
        <p:spPr>
          <a:xfrm>
            <a:off x="571789" y="1325563"/>
            <a:ext cx="3018116" cy="5544997"/>
          </a:xfrm>
          <a:prstGeom prst="rect">
            <a:avLst/>
          </a:prstGeom>
        </p:spPr>
      </p:pic>
      <p:sp>
        <p:nvSpPr>
          <p:cNvPr id="6" name="TextBox 5">
            <a:extLst>
              <a:ext uri="{FF2B5EF4-FFF2-40B4-BE49-F238E27FC236}">
                <a16:creationId xmlns:a16="http://schemas.microsoft.com/office/drawing/2014/main" id="{619432F7-EC9C-4DD0-AE57-D6A740A34E78}"/>
              </a:ext>
            </a:extLst>
          </p:cNvPr>
          <p:cNvSpPr txBox="1"/>
          <p:nvPr/>
        </p:nvSpPr>
        <p:spPr>
          <a:xfrm>
            <a:off x="4610918" y="3160190"/>
            <a:ext cx="2101381" cy="2308324"/>
          </a:xfrm>
          <a:prstGeom prst="rect">
            <a:avLst/>
          </a:prstGeom>
          <a:noFill/>
        </p:spPr>
        <p:txBody>
          <a:bodyPr wrap="square" rtlCol="0">
            <a:spAutoFit/>
          </a:bodyPr>
          <a:lstStyle/>
          <a:p>
            <a:r>
              <a:rPr lang="en-US" dirty="0"/>
              <a:t>Overall, a very bad idea to use these two features only.</a:t>
            </a:r>
          </a:p>
          <a:p>
            <a:r>
              <a:rPr lang="en-US" dirty="0"/>
              <a:t>No valuable information given and only reduces distance due to the genres.</a:t>
            </a:r>
          </a:p>
        </p:txBody>
      </p:sp>
      <p:pic>
        <p:nvPicPr>
          <p:cNvPr id="3" name="Picture 2">
            <a:extLst>
              <a:ext uri="{FF2B5EF4-FFF2-40B4-BE49-F238E27FC236}">
                <a16:creationId xmlns:a16="http://schemas.microsoft.com/office/drawing/2014/main" id="{089DA8A4-A236-4DB7-A91C-92716D0879DF}"/>
              </a:ext>
            </a:extLst>
          </p:cNvPr>
          <p:cNvPicPr>
            <a:picLocks noChangeAspect="1"/>
          </p:cNvPicPr>
          <p:nvPr/>
        </p:nvPicPr>
        <p:blipFill>
          <a:blip r:embed="rId3"/>
          <a:stretch>
            <a:fillRect/>
          </a:stretch>
        </p:blipFill>
        <p:spPr>
          <a:xfrm>
            <a:off x="7192040" y="0"/>
            <a:ext cx="4299155" cy="6858000"/>
          </a:xfrm>
          <a:prstGeom prst="rect">
            <a:avLst/>
          </a:prstGeom>
        </p:spPr>
      </p:pic>
    </p:spTree>
    <p:extLst>
      <p:ext uri="{BB962C8B-B14F-4D97-AF65-F5344CB8AC3E}">
        <p14:creationId xmlns:p14="http://schemas.microsoft.com/office/powerpoint/2010/main" val="3052393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1F08D-9903-4A1A-9159-65526278418A}"/>
              </a:ext>
            </a:extLst>
          </p:cNvPr>
          <p:cNvSpPr>
            <a:spLocks noGrp="1"/>
          </p:cNvSpPr>
          <p:nvPr>
            <p:ph type="title"/>
          </p:nvPr>
        </p:nvSpPr>
        <p:spPr>
          <a:xfrm>
            <a:off x="1152211" y="0"/>
            <a:ext cx="5707464" cy="1325563"/>
          </a:xfrm>
        </p:spPr>
        <p:txBody>
          <a:bodyPr/>
          <a:lstStyle/>
          <a:p>
            <a:r>
              <a:rPr lang="en-US" b="1" dirty="0"/>
              <a:t>KNN with Cast and Directors as Features</a:t>
            </a:r>
          </a:p>
        </p:txBody>
      </p:sp>
      <p:pic>
        <p:nvPicPr>
          <p:cNvPr id="5" name="Picture 4">
            <a:extLst>
              <a:ext uri="{FF2B5EF4-FFF2-40B4-BE49-F238E27FC236}">
                <a16:creationId xmlns:a16="http://schemas.microsoft.com/office/drawing/2014/main" id="{9B8879E5-A4E5-43AD-A781-C855D41C4396}"/>
              </a:ext>
            </a:extLst>
          </p:cNvPr>
          <p:cNvPicPr>
            <a:picLocks noChangeAspect="1"/>
          </p:cNvPicPr>
          <p:nvPr/>
        </p:nvPicPr>
        <p:blipFill>
          <a:blip r:embed="rId2"/>
          <a:stretch>
            <a:fillRect/>
          </a:stretch>
        </p:blipFill>
        <p:spPr>
          <a:xfrm>
            <a:off x="277218" y="1325563"/>
            <a:ext cx="4000103" cy="5532437"/>
          </a:xfrm>
          <a:prstGeom prst="rect">
            <a:avLst/>
          </a:prstGeom>
        </p:spPr>
      </p:pic>
      <p:sp>
        <p:nvSpPr>
          <p:cNvPr id="6" name="TextBox 5">
            <a:extLst>
              <a:ext uri="{FF2B5EF4-FFF2-40B4-BE49-F238E27FC236}">
                <a16:creationId xmlns:a16="http://schemas.microsoft.com/office/drawing/2014/main" id="{1A2037F0-ECD3-4316-A84F-1939FB6A07FB}"/>
              </a:ext>
            </a:extLst>
          </p:cNvPr>
          <p:cNvSpPr txBox="1"/>
          <p:nvPr/>
        </p:nvSpPr>
        <p:spPr>
          <a:xfrm>
            <a:off x="4005943" y="2966776"/>
            <a:ext cx="3070121" cy="1477328"/>
          </a:xfrm>
          <a:prstGeom prst="rect">
            <a:avLst/>
          </a:prstGeom>
          <a:noFill/>
        </p:spPr>
        <p:txBody>
          <a:bodyPr wrap="square" rtlCol="0">
            <a:spAutoFit/>
          </a:bodyPr>
          <a:lstStyle/>
          <a:p>
            <a:r>
              <a:rPr lang="en-US" dirty="0"/>
              <a:t>Overall, this can be used to find your favorite actors and directors play in certain movies, but other than that, nothing else.</a:t>
            </a:r>
          </a:p>
        </p:txBody>
      </p:sp>
      <p:pic>
        <p:nvPicPr>
          <p:cNvPr id="3" name="Picture 2">
            <a:extLst>
              <a:ext uri="{FF2B5EF4-FFF2-40B4-BE49-F238E27FC236}">
                <a16:creationId xmlns:a16="http://schemas.microsoft.com/office/drawing/2014/main" id="{5192E5B9-8A45-4F63-B572-266D67E1ECE4}"/>
              </a:ext>
            </a:extLst>
          </p:cNvPr>
          <p:cNvPicPr>
            <a:picLocks noChangeAspect="1"/>
          </p:cNvPicPr>
          <p:nvPr/>
        </p:nvPicPr>
        <p:blipFill>
          <a:blip r:embed="rId3"/>
          <a:stretch>
            <a:fillRect/>
          </a:stretch>
        </p:blipFill>
        <p:spPr>
          <a:xfrm>
            <a:off x="7076064" y="0"/>
            <a:ext cx="5115936" cy="6858000"/>
          </a:xfrm>
          <a:prstGeom prst="rect">
            <a:avLst/>
          </a:prstGeom>
        </p:spPr>
      </p:pic>
    </p:spTree>
    <p:extLst>
      <p:ext uri="{BB962C8B-B14F-4D97-AF65-F5344CB8AC3E}">
        <p14:creationId xmlns:p14="http://schemas.microsoft.com/office/powerpoint/2010/main" val="472062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92C2-CBEB-4AC3-A9B1-2528EB656895}"/>
              </a:ext>
            </a:extLst>
          </p:cNvPr>
          <p:cNvSpPr>
            <a:spLocks noGrp="1"/>
          </p:cNvSpPr>
          <p:nvPr>
            <p:ph type="title"/>
          </p:nvPr>
        </p:nvSpPr>
        <p:spPr>
          <a:xfrm>
            <a:off x="838200" y="0"/>
            <a:ext cx="10515600" cy="1122031"/>
          </a:xfrm>
        </p:spPr>
        <p:txBody>
          <a:bodyPr/>
          <a:lstStyle/>
          <a:p>
            <a:r>
              <a:rPr lang="en-US" b="1" dirty="0"/>
              <a:t>KNN with Genres and Keywords as Features</a:t>
            </a:r>
          </a:p>
        </p:txBody>
      </p:sp>
      <p:pic>
        <p:nvPicPr>
          <p:cNvPr id="4" name="Picture 3">
            <a:extLst>
              <a:ext uri="{FF2B5EF4-FFF2-40B4-BE49-F238E27FC236}">
                <a16:creationId xmlns:a16="http://schemas.microsoft.com/office/drawing/2014/main" id="{0FF9E7A0-29D2-465A-BAEA-8AB6FFB164C6}"/>
              </a:ext>
            </a:extLst>
          </p:cNvPr>
          <p:cNvPicPr>
            <a:picLocks noChangeAspect="1"/>
          </p:cNvPicPr>
          <p:nvPr/>
        </p:nvPicPr>
        <p:blipFill>
          <a:blip r:embed="rId2"/>
          <a:stretch>
            <a:fillRect/>
          </a:stretch>
        </p:blipFill>
        <p:spPr>
          <a:xfrm>
            <a:off x="341305" y="1122031"/>
            <a:ext cx="6344535" cy="3896269"/>
          </a:xfrm>
          <a:prstGeom prst="rect">
            <a:avLst/>
          </a:prstGeom>
        </p:spPr>
      </p:pic>
      <p:pic>
        <p:nvPicPr>
          <p:cNvPr id="5" name="Picture 4">
            <a:extLst>
              <a:ext uri="{FF2B5EF4-FFF2-40B4-BE49-F238E27FC236}">
                <a16:creationId xmlns:a16="http://schemas.microsoft.com/office/drawing/2014/main" id="{FDD7502E-C0B9-4BF8-88DB-F5E98A2FD93F}"/>
              </a:ext>
            </a:extLst>
          </p:cNvPr>
          <p:cNvPicPr>
            <a:picLocks noChangeAspect="1"/>
          </p:cNvPicPr>
          <p:nvPr/>
        </p:nvPicPr>
        <p:blipFill>
          <a:blip r:embed="rId3"/>
          <a:stretch>
            <a:fillRect/>
          </a:stretch>
        </p:blipFill>
        <p:spPr>
          <a:xfrm>
            <a:off x="9762471" y="1122031"/>
            <a:ext cx="1124107" cy="5239481"/>
          </a:xfrm>
          <a:prstGeom prst="rect">
            <a:avLst/>
          </a:prstGeom>
        </p:spPr>
      </p:pic>
      <p:sp>
        <p:nvSpPr>
          <p:cNvPr id="6" name="TextBox 5">
            <a:extLst>
              <a:ext uri="{FF2B5EF4-FFF2-40B4-BE49-F238E27FC236}">
                <a16:creationId xmlns:a16="http://schemas.microsoft.com/office/drawing/2014/main" id="{5E07D659-CEF9-4D4C-9C0A-B5E2CD16E537}"/>
              </a:ext>
            </a:extLst>
          </p:cNvPr>
          <p:cNvSpPr txBox="1"/>
          <p:nvPr/>
        </p:nvSpPr>
        <p:spPr>
          <a:xfrm>
            <a:off x="3890044" y="4973950"/>
            <a:ext cx="2862943" cy="1754326"/>
          </a:xfrm>
          <a:prstGeom prst="rect">
            <a:avLst/>
          </a:prstGeom>
          <a:noFill/>
        </p:spPr>
        <p:txBody>
          <a:bodyPr wrap="square" rtlCol="0">
            <a:spAutoFit/>
          </a:bodyPr>
          <a:lstStyle/>
          <a:p>
            <a:r>
              <a:rPr lang="en-US" dirty="0"/>
              <a:t>Like before, we take a list of every unique keywords used in the dataset and convert them to list where 1 represents the unique word in the movie.</a:t>
            </a:r>
          </a:p>
        </p:txBody>
      </p:sp>
      <p:pic>
        <p:nvPicPr>
          <p:cNvPr id="7" name="Picture 6">
            <a:extLst>
              <a:ext uri="{FF2B5EF4-FFF2-40B4-BE49-F238E27FC236}">
                <a16:creationId xmlns:a16="http://schemas.microsoft.com/office/drawing/2014/main" id="{005A657C-387B-4662-8293-F673129653A2}"/>
              </a:ext>
            </a:extLst>
          </p:cNvPr>
          <p:cNvPicPr>
            <a:picLocks noChangeAspect="1"/>
          </p:cNvPicPr>
          <p:nvPr/>
        </p:nvPicPr>
        <p:blipFill>
          <a:blip r:embed="rId4"/>
          <a:stretch>
            <a:fillRect/>
          </a:stretch>
        </p:blipFill>
        <p:spPr>
          <a:xfrm>
            <a:off x="6995259" y="1122031"/>
            <a:ext cx="2457793" cy="3658111"/>
          </a:xfrm>
          <a:prstGeom prst="rect">
            <a:avLst/>
          </a:prstGeom>
        </p:spPr>
      </p:pic>
    </p:spTree>
    <p:extLst>
      <p:ext uri="{BB962C8B-B14F-4D97-AF65-F5344CB8AC3E}">
        <p14:creationId xmlns:p14="http://schemas.microsoft.com/office/powerpoint/2010/main" val="3736741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83722-3FB6-43CD-8226-41D89C0A27CD}"/>
              </a:ext>
            </a:extLst>
          </p:cNvPr>
          <p:cNvSpPr>
            <a:spLocks noGrp="1"/>
          </p:cNvSpPr>
          <p:nvPr>
            <p:ph type="title"/>
          </p:nvPr>
        </p:nvSpPr>
        <p:spPr>
          <a:xfrm>
            <a:off x="2439651" y="0"/>
            <a:ext cx="5214433" cy="1024932"/>
          </a:xfrm>
        </p:spPr>
        <p:txBody>
          <a:bodyPr>
            <a:normAutofit fontScale="90000"/>
          </a:bodyPr>
          <a:lstStyle/>
          <a:p>
            <a:r>
              <a:rPr lang="en-US" b="1" dirty="0"/>
              <a:t>KNN with Genres and Keywords as Features</a:t>
            </a:r>
          </a:p>
        </p:txBody>
      </p:sp>
      <p:pic>
        <p:nvPicPr>
          <p:cNvPr id="4" name="Picture 3">
            <a:extLst>
              <a:ext uri="{FF2B5EF4-FFF2-40B4-BE49-F238E27FC236}">
                <a16:creationId xmlns:a16="http://schemas.microsoft.com/office/drawing/2014/main" id="{5CFEF483-2C03-4303-98AC-B696E40D0FA5}"/>
              </a:ext>
            </a:extLst>
          </p:cNvPr>
          <p:cNvPicPr>
            <a:picLocks noChangeAspect="1"/>
          </p:cNvPicPr>
          <p:nvPr/>
        </p:nvPicPr>
        <p:blipFill>
          <a:blip r:embed="rId2"/>
          <a:stretch>
            <a:fillRect/>
          </a:stretch>
        </p:blipFill>
        <p:spPr>
          <a:xfrm>
            <a:off x="134257" y="1024932"/>
            <a:ext cx="3138746" cy="5833068"/>
          </a:xfrm>
          <a:prstGeom prst="rect">
            <a:avLst/>
          </a:prstGeom>
        </p:spPr>
      </p:pic>
      <p:sp>
        <p:nvSpPr>
          <p:cNvPr id="5" name="TextBox 4">
            <a:extLst>
              <a:ext uri="{FF2B5EF4-FFF2-40B4-BE49-F238E27FC236}">
                <a16:creationId xmlns:a16="http://schemas.microsoft.com/office/drawing/2014/main" id="{13040270-819D-4FB8-A578-8169BD68689E}"/>
              </a:ext>
            </a:extLst>
          </p:cNvPr>
          <p:cNvSpPr txBox="1"/>
          <p:nvPr/>
        </p:nvSpPr>
        <p:spPr>
          <a:xfrm>
            <a:off x="3273003" y="3064303"/>
            <a:ext cx="4381081" cy="1754326"/>
          </a:xfrm>
          <a:prstGeom prst="rect">
            <a:avLst/>
          </a:prstGeom>
          <a:noFill/>
        </p:spPr>
        <p:txBody>
          <a:bodyPr wrap="square" rtlCol="0">
            <a:spAutoFit/>
          </a:bodyPr>
          <a:lstStyle/>
          <a:p>
            <a:r>
              <a:rPr lang="en-US" dirty="0"/>
              <a:t>Based on these results, genre and keywords do not have much correlation together and it could be that some keywords belong to multiple genres or none of the genres in general, making it difficult for the model to figure out what is similar.</a:t>
            </a:r>
          </a:p>
        </p:txBody>
      </p:sp>
      <p:pic>
        <p:nvPicPr>
          <p:cNvPr id="3" name="Picture 2">
            <a:extLst>
              <a:ext uri="{FF2B5EF4-FFF2-40B4-BE49-F238E27FC236}">
                <a16:creationId xmlns:a16="http://schemas.microsoft.com/office/drawing/2014/main" id="{5183CCBC-7188-425F-89F4-86EE37F938AD}"/>
              </a:ext>
            </a:extLst>
          </p:cNvPr>
          <p:cNvPicPr>
            <a:picLocks noChangeAspect="1"/>
          </p:cNvPicPr>
          <p:nvPr/>
        </p:nvPicPr>
        <p:blipFill>
          <a:blip r:embed="rId3"/>
          <a:stretch>
            <a:fillRect/>
          </a:stretch>
        </p:blipFill>
        <p:spPr>
          <a:xfrm>
            <a:off x="8109681" y="0"/>
            <a:ext cx="4082319" cy="6858000"/>
          </a:xfrm>
          <a:prstGeom prst="rect">
            <a:avLst/>
          </a:prstGeom>
        </p:spPr>
      </p:pic>
    </p:spTree>
    <p:extLst>
      <p:ext uri="{BB962C8B-B14F-4D97-AF65-F5344CB8AC3E}">
        <p14:creationId xmlns:p14="http://schemas.microsoft.com/office/powerpoint/2010/main" val="873266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8F16-4E23-45E3-AC83-7FA1410FE649}"/>
              </a:ext>
            </a:extLst>
          </p:cNvPr>
          <p:cNvSpPr>
            <a:spLocks noGrp="1"/>
          </p:cNvSpPr>
          <p:nvPr>
            <p:ph type="title"/>
          </p:nvPr>
        </p:nvSpPr>
        <p:spPr>
          <a:xfrm>
            <a:off x="1776379" y="0"/>
            <a:ext cx="5843954" cy="1325563"/>
          </a:xfrm>
        </p:spPr>
        <p:txBody>
          <a:bodyPr/>
          <a:lstStyle/>
          <a:p>
            <a:r>
              <a:rPr lang="en-US" b="1" dirty="0"/>
              <a:t>KNN with Cast and Keywords as Features</a:t>
            </a:r>
          </a:p>
        </p:txBody>
      </p:sp>
      <p:pic>
        <p:nvPicPr>
          <p:cNvPr id="4" name="Picture 3">
            <a:extLst>
              <a:ext uri="{FF2B5EF4-FFF2-40B4-BE49-F238E27FC236}">
                <a16:creationId xmlns:a16="http://schemas.microsoft.com/office/drawing/2014/main" id="{C6C79AA5-996B-417A-A1E4-3CF7592FD28B}"/>
              </a:ext>
            </a:extLst>
          </p:cNvPr>
          <p:cNvPicPr>
            <a:picLocks noChangeAspect="1"/>
          </p:cNvPicPr>
          <p:nvPr/>
        </p:nvPicPr>
        <p:blipFill>
          <a:blip r:embed="rId2"/>
          <a:stretch>
            <a:fillRect/>
          </a:stretch>
        </p:blipFill>
        <p:spPr>
          <a:xfrm>
            <a:off x="0" y="1363600"/>
            <a:ext cx="4145053" cy="5494400"/>
          </a:xfrm>
          <a:prstGeom prst="rect">
            <a:avLst/>
          </a:prstGeom>
        </p:spPr>
      </p:pic>
      <p:sp>
        <p:nvSpPr>
          <p:cNvPr id="5" name="TextBox 4">
            <a:extLst>
              <a:ext uri="{FF2B5EF4-FFF2-40B4-BE49-F238E27FC236}">
                <a16:creationId xmlns:a16="http://schemas.microsoft.com/office/drawing/2014/main" id="{DCE5ABE9-D10B-49C9-945E-8136C80C4026}"/>
              </a:ext>
            </a:extLst>
          </p:cNvPr>
          <p:cNvSpPr txBox="1"/>
          <p:nvPr/>
        </p:nvSpPr>
        <p:spPr>
          <a:xfrm>
            <a:off x="4173749" y="2783393"/>
            <a:ext cx="3446584" cy="1477328"/>
          </a:xfrm>
          <a:prstGeom prst="rect">
            <a:avLst/>
          </a:prstGeom>
          <a:noFill/>
        </p:spPr>
        <p:txBody>
          <a:bodyPr wrap="square" rtlCol="0">
            <a:spAutoFit/>
          </a:bodyPr>
          <a:lstStyle/>
          <a:p>
            <a:r>
              <a:rPr lang="en-US" dirty="0"/>
              <a:t>Overall, this may help us in figuring out which actors play in what kind of movies relating to the keywords, but weak in recommending us anything.</a:t>
            </a:r>
          </a:p>
        </p:txBody>
      </p:sp>
      <p:pic>
        <p:nvPicPr>
          <p:cNvPr id="3" name="Picture 2">
            <a:extLst>
              <a:ext uri="{FF2B5EF4-FFF2-40B4-BE49-F238E27FC236}">
                <a16:creationId xmlns:a16="http://schemas.microsoft.com/office/drawing/2014/main" id="{F6ED8172-E9AC-44F1-99DD-6EFD35125A6F}"/>
              </a:ext>
            </a:extLst>
          </p:cNvPr>
          <p:cNvPicPr>
            <a:picLocks noChangeAspect="1"/>
          </p:cNvPicPr>
          <p:nvPr/>
        </p:nvPicPr>
        <p:blipFill>
          <a:blip r:embed="rId3"/>
          <a:stretch>
            <a:fillRect/>
          </a:stretch>
        </p:blipFill>
        <p:spPr>
          <a:xfrm>
            <a:off x="7649029" y="0"/>
            <a:ext cx="4542971" cy="6858000"/>
          </a:xfrm>
          <a:prstGeom prst="rect">
            <a:avLst/>
          </a:prstGeom>
        </p:spPr>
      </p:pic>
    </p:spTree>
    <p:extLst>
      <p:ext uri="{BB962C8B-B14F-4D97-AF65-F5344CB8AC3E}">
        <p14:creationId xmlns:p14="http://schemas.microsoft.com/office/powerpoint/2010/main" val="4258748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90330-5B54-4040-8187-C1F988EC6CD1}"/>
              </a:ext>
            </a:extLst>
          </p:cNvPr>
          <p:cNvSpPr>
            <a:spLocks noGrp="1"/>
          </p:cNvSpPr>
          <p:nvPr>
            <p:ph type="title"/>
          </p:nvPr>
        </p:nvSpPr>
        <p:spPr>
          <a:xfrm>
            <a:off x="838200" y="0"/>
            <a:ext cx="6135356" cy="1325563"/>
          </a:xfrm>
        </p:spPr>
        <p:txBody>
          <a:bodyPr/>
          <a:lstStyle/>
          <a:p>
            <a:r>
              <a:rPr lang="en-US" b="1" dirty="0"/>
              <a:t>KNN with Director and Keywords as Features</a:t>
            </a:r>
          </a:p>
        </p:txBody>
      </p:sp>
      <p:pic>
        <p:nvPicPr>
          <p:cNvPr id="4" name="Picture 3">
            <a:extLst>
              <a:ext uri="{FF2B5EF4-FFF2-40B4-BE49-F238E27FC236}">
                <a16:creationId xmlns:a16="http://schemas.microsoft.com/office/drawing/2014/main" id="{A0C36F77-3B94-45FD-A702-B04532CABB7A}"/>
              </a:ext>
            </a:extLst>
          </p:cNvPr>
          <p:cNvPicPr>
            <a:picLocks noChangeAspect="1"/>
          </p:cNvPicPr>
          <p:nvPr/>
        </p:nvPicPr>
        <p:blipFill>
          <a:blip r:embed="rId2"/>
          <a:stretch>
            <a:fillRect/>
          </a:stretch>
        </p:blipFill>
        <p:spPr>
          <a:xfrm>
            <a:off x="0" y="1339536"/>
            <a:ext cx="2869249" cy="5518464"/>
          </a:xfrm>
          <a:prstGeom prst="rect">
            <a:avLst/>
          </a:prstGeom>
        </p:spPr>
      </p:pic>
      <p:sp>
        <p:nvSpPr>
          <p:cNvPr id="5" name="TextBox 4">
            <a:extLst>
              <a:ext uri="{FF2B5EF4-FFF2-40B4-BE49-F238E27FC236}">
                <a16:creationId xmlns:a16="http://schemas.microsoft.com/office/drawing/2014/main" id="{CE767C86-40E7-4B9C-B9DF-DB2050056878}"/>
              </a:ext>
            </a:extLst>
          </p:cNvPr>
          <p:cNvSpPr txBox="1"/>
          <p:nvPr/>
        </p:nvSpPr>
        <p:spPr>
          <a:xfrm>
            <a:off x="2869249" y="2898439"/>
            <a:ext cx="3752615" cy="1754326"/>
          </a:xfrm>
          <a:prstGeom prst="rect">
            <a:avLst/>
          </a:prstGeom>
          <a:noFill/>
        </p:spPr>
        <p:txBody>
          <a:bodyPr wrap="square" rtlCol="0">
            <a:spAutoFit/>
          </a:bodyPr>
          <a:lstStyle/>
          <a:p>
            <a:r>
              <a:rPr lang="en-US" dirty="0"/>
              <a:t>Overall, this does not tell us much when it comes to recommending and it mostly using directors to lower the distances between the two movies rather than a mix of both directors and keywords.</a:t>
            </a:r>
          </a:p>
        </p:txBody>
      </p:sp>
      <p:pic>
        <p:nvPicPr>
          <p:cNvPr id="3" name="Picture 2">
            <a:extLst>
              <a:ext uri="{FF2B5EF4-FFF2-40B4-BE49-F238E27FC236}">
                <a16:creationId xmlns:a16="http://schemas.microsoft.com/office/drawing/2014/main" id="{49B6B040-6560-45E1-A2E8-6B26A6D9992D}"/>
              </a:ext>
            </a:extLst>
          </p:cNvPr>
          <p:cNvPicPr>
            <a:picLocks noChangeAspect="1"/>
          </p:cNvPicPr>
          <p:nvPr/>
        </p:nvPicPr>
        <p:blipFill>
          <a:blip r:embed="rId3"/>
          <a:stretch>
            <a:fillRect/>
          </a:stretch>
        </p:blipFill>
        <p:spPr>
          <a:xfrm>
            <a:off x="6743987" y="0"/>
            <a:ext cx="5448013" cy="6858000"/>
          </a:xfrm>
          <a:prstGeom prst="rect">
            <a:avLst/>
          </a:prstGeom>
        </p:spPr>
      </p:pic>
    </p:spTree>
    <p:extLst>
      <p:ext uri="{BB962C8B-B14F-4D97-AF65-F5344CB8AC3E}">
        <p14:creationId xmlns:p14="http://schemas.microsoft.com/office/powerpoint/2010/main" val="1575165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36132-2F77-4C67-A0CF-A48055BE6F0A}"/>
              </a:ext>
            </a:extLst>
          </p:cNvPr>
          <p:cNvSpPr>
            <a:spLocks noGrp="1"/>
          </p:cNvSpPr>
          <p:nvPr>
            <p:ph type="title"/>
          </p:nvPr>
        </p:nvSpPr>
        <p:spPr>
          <a:xfrm>
            <a:off x="51917" y="18255"/>
            <a:ext cx="7581036" cy="1325563"/>
          </a:xfrm>
        </p:spPr>
        <p:txBody>
          <a:bodyPr>
            <a:normAutofit/>
          </a:bodyPr>
          <a:lstStyle/>
          <a:p>
            <a:r>
              <a:rPr lang="en-US" sz="4000" b="1" dirty="0"/>
              <a:t>KNN with Genres, Cast, Director, and Keywords as Features</a:t>
            </a:r>
          </a:p>
        </p:txBody>
      </p:sp>
      <p:pic>
        <p:nvPicPr>
          <p:cNvPr id="4" name="Picture 3">
            <a:extLst>
              <a:ext uri="{FF2B5EF4-FFF2-40B4-BE49-F238E27FC236}">
                <a16:creationId xmlns:a16="http://schemas.microsoft.com/office/drawing/2014/main" id="{E45FBF3F-33E4-4215-AF0F-01E01A74A7F4}"/>
              </a:ext>
            </a:extLst>
          </p:cNvPr>
          <p:cNvPicPr>
            <a:picLocks noChangeAspect="1"/>
          </p:cNvPicPr>
          <p:nvPr/>
        </p:nvPicPr>
        <p:blipFill>
          <a:blip r:embed="rId2"/>
          <a:stretch>
            <a:fillRect/>
          </a:stretch>
        </p:blipFill>
        <p:spPr>
          <a:xfrm>
            <a:off x="283385" y="1343818"/>
            <a:ext cx="3269936" cy="5514182"/>
          </a:xfrm>
          <a:prstGeom prst="rect">
            <a:avLst/>
          </a:prstGeom>
        </p:spPr>
      </p:pic>
      <p:sp>
        <p:nvSpPr>
          <p:cNvPr id="5" name="TextBox 4">
            <a:extLst>
              <a:ext uri="{FF2B5EF4-FFF2-40B4-BE49-F238E27FC236}">
                <a16:creationId xmlns:a16="http://schemas.microsoft.com/office/drawing/2014/main" id="{6AF3786D-F4E3-4B3D-AA41-82F148B2F6C2}"/>
              </a:ext>
            </a:extLst>
          </p:cNvPr>
          <p:cNvSpPr txBox="1"/>
          <p:nvPr/>
        </p:nvSpPr>
        <p:spPr>
          <a:xfrm>
            <a:off x="3553322" y="2843683"/>
            <a:ext cx="4079631" cy="1477328"/>
          </a:xfrm>
          <a:prstGeom prst="rect">
            <a:avLst/>
          </a:prstGeom>
          <a:noFill/>
        </p:spPr>
        <p:txBody>
          <a:bodyPr wrap="square" rtlCol="0">
            <a:spAutoFit/>
          </a:bodyPr>
          <a:lstStyle/>
          <a:p>
            <a:r>
              <a:rPr lang="en-US" dirty="0"/>
              <a:t>Using 4 Features gives us some big distances between the two random movies, but this means that it is getting more accurate in finding recommendations for us.</a:t>
            </a:r>
          </a:p>
        </p:txBody>
      </p:sp>
      <p:pic>
        <p:nvPicPr>
          <p:cNvPr id="3" name="Picture 2">
            <a:extLst>
              <a:ext uri="{FF2B5EF4-FFF2-40B4-BE49-F238E27FC236}">
                <a16:creationId xmlns:a16="http://schemas.microsoft.com/office/drawing/2014/main" id="{C60DFF44-3335-4940-9FED-E55B85E452A9}"/>
              </a:ext>
            </a:extLst>
          </p:cNvPr>
          <p:cNvPicPr>
            <a:picLocks noChangeAspect="1"/>
          </p:cNvPicPr>
          <p:nvPr/>
        </p:nvPicPr>
        <p:blipFill>
          <a:blip r:embed="rId3"/>
          <a:stretch>
            <a:fillRect/>
          </a:stretch>
        </p:blipFill>
        <p:spPr>
          <a:xfrm>
            <a:off x="8147538" y="18255"/>
            <a:ext cx="4044462" cy="6858000"/>
          </a:xfrm>
          <a:prstGeom prst="rect">
            <a:avLst/>
          </a:prstGeom>
        </p:spPr>
      </p:pic>
    </p:spTree>
    <p:extLst>
      <p:ext uri="{BB962C8B-B14F-4D97-AF65-F5344CB8AC3E}">
        <p14:creationId xmlns:p14="http://schemas.microsoft.com/office/powerpoint/2010/main" val="2793863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AF5D2-0663-4FCB-9C23-FE1F0C14D447}"/>
              </a:ext>
            </a:extLst>
          </p:cNvPr>
          <p:cNvSpPr>
            <a:spLocks noGrp="1"/>
          </p:cNvSpPr>
          <p:nvPr>
            <p:ph type="title"/>
          </p:nvPr>
        </p:nvSpPr>
        <p:spPr/>
        <p:txBody>
          <a:bodyPr/>
          <a:lstStyle/>
          <a:p>
            <a:r>
              <a:rPr lang="en-US" b="1" dirty="0"/>
              <a:t>Conclusion/Analysis</a:t>
            </a:r>
          </a:p>
        </p:txBody>
      </p:sp>
      <p:sp>
        <p:nvSpPr>
          <p:cNvPr id="3" name="Content Placeholder 2">
            <a:extLst>
              <a:ext uri="{FF2B5EF4-FFF2-40B4-BE49-F238E27FC236}">
                <a16:creationId xmlns:a16="http://schemas.microsoft.com/office/drawing/2014/main" id="{EF400087-5251-4113-84B6-5009BDDF0382}"/>
              </a:ext>
            </a:extLst>
          </p:cNvPr>
          <p:cNvSpPr>
            <a:spLocks noGrp="1"/>
          </p:cNvSpPr>
          <p:nvPr>
            <p:ph idx="1"/>
          </p:nvPr>
        </p:nvSpPr>
        <p:spPr/>
        <p:txBody>
          <a:bodyPr/>
          <a:lstStyle/>
          <a:p>
            <a:r>
              <a:rPr lang="en-US" dirty="0"/>
              <a:t>Overall, most difficult part was setting up the models to work the way they are intended.</a:t>
            </a:r>
          </a:p>
          <a:p>
            <a:r>
              <a:rPr lang="en-US" dirty="0"/>
              <a:t>Based on the results, more features helps train our model to provide much more better recommendations.</a:t>
            </a:r>
          </a:p>
          <a:p>
            <a:r>
              <a:rPr lang="en-US" dirty="0"/>
              <a:t>Not easy to determine the accuracy other than the distances, as users can have different tastes in terms of movies.</a:t>
            </a:r>
          </a:p>
          <a:p>
            <a:r>
              <a:rPr lang="en-US" dirty="0"/>
              <a:t>Content based filtering recommendation systems are not often used mainly due to how users can differ in the way they watch movies.</a:t>
            </a:r>
          </a:p>
        </p:txBody>
      </p:sp>
    </p:spTree>
    <p:extLst>
      <p:ext uri="{BB962C8B-B14F-4D97-AF65-F5344CB8AC3E}">
        <p14:creationId xmlns:p14="http://schemas.microsoft.com/office/powerpoint/2010/main" val="4073903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B4EBA-AD31-4393-87D3-CC54BCAD3712}"/>
              </a:ext>
            </a:extLst>
          </p:cNvPr>
          <p:cNvSpPr>
            <a:spLocks noGrp="1"/>
          </p:cNvSpPr>
          <p:nvPr>
            <p:ph type="title"/>
          </p:nvPr>
        </p:nvSpPr>
        <p:spPr>
          <a:xfrm>
            <a:off x="838200" y="176169"/>
            <a:ext cx="10515600" cy="838899"/>
          </a:xfrm>
        </p:spPr>
        <p:txBody>
          <a:bodyPr/>
          <a:lstStyle/>
          <a:p>
            <a:r>
              <a:rPr lang="en-US" b="1" dirty="0"/>
              <a:t>Sources Used</a:t>
            </a:r>
          </a:p>
        </p:txBody>
      </p:sp>
      <p:sp>
        <p:nvSpPr>
          <p:cNvPr id="3" name="Content Placeholder 2">
            <a:extLst>
              <a:ext uri="{FF2B5EF4-FFF2-40B4-BE49-F238E27FC236}">
                <a16:creationId xmlns:a16="http://schemas.microsoft.com/office/drawing/2014/main" id="{FBEF0592-1892-49D6-904A-E3EA19A9A61E}"/>
              </a:ext>
            </a:extLst>
          </p:cNvPr>
          <p:cNvSpPr>
            <a:spLocks noGrp="1"/>
          </p:cNvSpPr>
          <p:nvPr>
            <p:ph idx="1"/>
          </p:nvPr>
        </p:nvSpPr>
        <p:spPr>
          <a:xfrm>
            <a:off x="838200" y="1015068"/>
            <a:ext cx="10515600" cy="5763238"/>
          </a:xfrm>
        </p:spPr>
        <p:txBody>
          <a:bodyPr>
            <a:normAutofit/>
          </a:bodyPr>
          <a:lstStyle/>
          <a:p>
            <a:r>
              <a:rPr lang="en-US" sz="1400" dirty="0">
                <a:hlinkClick r:id="rId2"/>
              </a:rPr>
              <a:t>https://medium.com/analytics-vidhya/distances-in-machine-learning-ec8c6cebbc7f</a:t>
            </a:r>
            <a:endParaRPr lang="en-US" sz="1400" dirty="0"/>
          </a:p>
          <a:p>
            <a:r>
              <a:rPr lang="en-US" sz="1400" dirty="0">
                <a:hlinkClick r:id="rId3"/>
              </a:rPr>
              <a:t>https://towardsdatascience.com/importance-of-distance-metrics-in-machine-learning-modelling-e51395ffe60d</a:t>
            </a:r>
            <a:endParaRPr lang="en-US" sz="1400" dirty="0"/>
          </a:p>
          <a:p>
            <a:r>
              <a:rPr lang="en-US" sz="1400" dirty="0">
                <a:hlinkClick r:id="rId4"/>
              </a:rPr>
              <a:t>https://towardsdatascience.com/cosine-similarity-how-does-it-measure-the-similarity-maths-behind-and-usage-in-python-50ad30aad7db</a:t>
            </a:r>
            <a:endParaRPr lang="en-US" sz="1400" dirty="0"/>
          </a:p>
          <a:p>
            <a:r>
              <a:rPr lang="en-US" sz="1400" dirty="0">
                <a:hlinkClick r:id="rId5"/>
              </a:rPr>
              <a:t>https://scikit-learn.org/stable/modules/metrics.html#cosine-similarity</a:t>
            </a:r>
            <a:endParaRPr lang="en-US" sz="1400" dirty="0"/>
          </a:p>
          <a:p>
            <a:r>
              <a:rPr lang="en-US" sz="1400" dirty="0">
                <a:hlinkClick r:id="rId6"/>
              </a:rPr>
              <a:t>https://scikit-learn.org/stable/modules/generated/sklearn.metrics.pairwise.cosine_similarity.html</a:t>
            </a:r>
            <a:endParaRPr lang="en-US" sz="1400" dirty="0"/>
          </a:p>
          <a:p>
            <a:r>
              <a:rPr lang="en-US" sz="1400" dirty="0">
                <a:hlinkClick r:id="rId7"/>
              </a:rPr>
              <a:t>https://www.machinelearningplus.com/nlp/cosine-similarity/</a:t>
            </a:r>
            <a:endParaRPr lang="en-US" sz="1400" dirty="0"/>
          </a:p>
          <a:p>
            <a:r>
              <a:rPr lang="en-US" sz="1400" dirty="0">
                <a:hlinkClick r:id="rId8"/>
              </a:rPr>
              <a:t>https://www.kaggle.com/ibtesama/getting-started-with-a-movie-recommendation-system#Collaborative-Filtering</a:t>
            </a:r>
            <a:endParaRPr lang="en-US" sz="1400" dirty="0"/>
          </a:p>
          <a:p>
            <a:r>
              <a:rPr lang="en-US" sz="1400" dirty="0">
                <a:hlinkClick r:id="rId9"/>
              </a:rPr>
              <a:t>https://towardsdatascience.com/recommender-systems-in-practice-cef9033bb23a</a:t>
            </a:r>
            <a:endParaRPr lang="en-US" sz="1400" dirty="0"/>
          </a:p>
          <a:p>
            <a:r>
              <a:rPr lang="en-US" sz="1400" dirty="0">
                <a:hlinkClick r:id="rId10"/>
              </a:rPr>
              <a:t>https://towardsdatascience.com/prototyping-a-recommender-system-step-by-step-part-1-knn-item-based-collaborative-filtering-637969614ea</a:t>
            </a:r>
            <a:endParaRPr lang="en-US" sz="1400" dirty="0"/>
          </a:p>
          <a:p>
            <a:r>
              <a:rPr lang="en-US" sz="1400" dirty="0">
                <a:hlinkClick r:id="rId11"/>
              </a:rPr>
              <a:t>https://towardsdatascience.com/how-did-we-build-book-recommender-systems-in-an-hour-part-2-k-nearest-neighbors-and-matrix-c04b3c2ef55c</a:t>
            </a:r>
            <a:endParaRPr lang="en-US" sz="1400" dirty="0"/>
          </a:p>
          <a:p>
            <a:r>
              <a:rPr lang="en-US" sz="1400" dirty="0">
                <a:hlinkClick r:id="rId12"/>
              </a:rPr>
              <a:t>https://kavita-ganesan.com/tfidftransformer-tfidfvectorizer-usage-differences/</a:t>
            </a:r>
            <a:endParaRPr lang="en-US" sz="1400" dirty="0"/>
          </a:p>
          <a:p>
            <a:r>
              <a:rPr lang="en-US" sz="1400" dirty="0">
                <a:hlinkClick r:id="rId13"/>
              </a:rPr>
              <a:t>https://scikit-learn.org/stable/modules/generated/sklearn.feature_extraction.text.TfidfVectorizer.html</a:t>
            </a:r>
            <a:endParaRPr lang="en-US" sz="1400" dirty="0"/>
          </a:p>
          <a:p>
            <a:r>
              <a:rPr lang="en-US" sz="1400" dirty="0">
                <a:hlinkClick r:id="rId14"/>
              </a:rPr>
              <a:t>https://towardsdatascience.com/beginners-recommendation-systems-with-python-ee1b08d2efb6</a:t>
            </a:r>
            <a:endParaRPr lang="en-US" sz="1400" dirty="0"/>
          </a:p>
          <a:p>
            <a:r>
              <a:rPr lang="en-US" sz="1400" dirty="0">
                <a:hlinkClick r:id="rId15"/>
              </a:rPr>
              <a:t>https://heartbeat.fritz.ai/recommender-systems-with-python-part-ii-collaborative-filtering-k-nearest-neighbors-algorithm-c8dcd5fd89b2#:~:text=When%20a%20KNN%20makes%20a,the%20most%20similar%20movie%20recommendations</a:t>
            </a:r>
            <a:endParaRPr lang="en-US" sz="1400" dirty="0"/>
          </a:p>
          <a:p>
            <a:r>
              <a:rPr lang="en-US" sz="1400" dirty="0">
                <a:hlinkClick r:id="rId16"/>
              </a:rPr>
              <a:t>https://towardsdatascience.com/machine-learning-basics-with-the-k-nearest-neighbors-algorithm-6a6e71d01761</a:t>
            </a:r>
            <a:endParaRPr lang="en-US" sz="1400" dirty="0"/>
          </a:p>
          <a:p>
            <a:endParaRPr lang="en-US" sz="1400" dirty="0"/>
          </a:p>
          <a:p>
            <a:endParaRPr lang="en-US" sz="1400" dirty="0"/>
          </a:p>
          <a:p>
            <a:endParaRPr lang="en-US" sz="1400" dirty="0"/>
          </a:p>
          <a:p>
            <a:endParaRPr lang="en-US" sz="1400" dirty="0"/>
          </a:p>
          <a:p>
            <a:endParaRPr lang="en-US" sz="1400" dirty="0"/>
          </a:p>
          <a:p>
            <a:endParaRPr lang="en-US" sz="1400" dirty="0"/>
          </a:p>
        </p:txBody>
      </p:sp>
    </p:spTree>
    <p:extLst>
      <p:ext uri="{BB962C8B-B14F-4D97-AF65-F5344CB8AC3E}">
        <p14:creationId xmlns:p14="http://schemas.microsoft.com/office/powerpoint/2010/main" val="1323696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914</TotalTime>
  <Words>939</Words>
  <Application>Microsoft Office PowerPoint</Application>
  <PresentationFormat>Widescreen</PresentationFormat>
  <Paragraphs>64</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Movie Recommendation System Using Linear Kernel and KNN</vt:lpstr>
      <vt:lpstr>Dataset Used</vt:lpstr>
      <vt:lpstr>Tmdb_5000_movies.csv</vt:lpstr>
      <vt:lpstr>tmdb_5000_credits.csv</vt:lpstr>
      <vt:lpstr>Merging and Cleaning the Data</vt:lpstr>
      <vt:lpstr>Content Based Filtering</vt:lpstr>
      <vt:lpstr>Linear Kernel using Movie Overviews</vt:lpstr>
      <vt:lpstr>Linear Kernel using Movie Overviews...</vt:lpstr>
      <vt:lpstr>KNN with Genre and the Cast as Features</vt:lpstr>
      <vt:lpstr>KNN with Genre and the Cast as Features</vt:lpstr>
      <vt:lpstr>KNN with Genre and Director as Features</vt:lpstr>
      <vt:lpstr>KNN with Genres and Director as Features</vt:lpstr>
      <vt:lpstr>KNN with Cast and Directors as Features</vt:lpstr>
      <vt:lpstr>KNN with Genres and Keywords as Features</vt:lpstr>
      <vt:lpstr>KNN with Genres and Keywords as Features</vt:lpstr>
      <vt:lpstr>KNN with Cast and Keywords as Features</vt:lpstr>
      <vt:lpstr>KNN with Director and Keywords as Features</vt:lpstr>
      <vt:lpstr>KNN with Genres, Cast, Director, and Keywords as Features</vt:lpstr>
      <vt:lpstr>Conclusion/Analysis</vt:lpstr>
      <vt:lpstr>Sources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Recommendation System Using Linear Kernel and KNN</dc:title>
  <dc:creator>Garland Q</dc:creator>
  <cp:lastModifiedBy>Garland Q</cp:lastModifiedBy>
  <cp:revision>34</cp:revision>
  <dcterms:created xsi:type="dcterms:W3CDTF">2020-12-01T05:51:02Z</dcterms:created>
  <dcterms:modified xsi:type="dcterms:W3CDTF">2020-12-06T09:05:05Z</dcterms:modified>
</cp:coreProperties>
</file>